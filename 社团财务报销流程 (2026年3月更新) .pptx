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3" r:id="rId3"/>
    <p:sldId id="302" r:id="rId5"/>
    <p:sldId id="303" r:id="rId6"/>
    <p:sldId id="308" r:id="rId7"/>
    <p:sldId id="289" r:id="rId8"/>
    <p:sldId id="290" r:id="rId9"/>
    <p:sldId id="291" r:id="rId10"/>
    <p:sldId id="298" r:id="rId11"/>
    <p:sldId id="311" r:id="rId12"/>
    <p:sldId id="292" r:id="rId13"/>
    <p:sldId id="295" r:id="rId14"/>
    <p:sldId id="313" r:id="rId15"/>
    <p:sldId id="300" r:id="rId16"/>
    <p:sldId id="294" r:id="rId17"/>
    <p:sldId id="287" r:id="rId18"/>
    <p:sldId id="309" r:id="rId19"/>
    <p:sldId id="296" r:id="rId20"/>
    <p:sldId id="299" r:id="rId21"/>
    <p:sldId id="305" r:id="rId22"/>
    <p:sldId id="285" r:id="rId23"/>
    <p:sldId id="288" r:id="rId24"/>
    <p:sldId id="297" r:id="rId25"/>
    <p:sldId id="286" r:id="rId26"/>
    <p:sldId id="312" r:id="rId27"/>
    <p:sldId id="307" r:id="rId28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539966050" name="茂大王" initials="茂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6239" autoAdjust="0"/>
  </p:normalViewPr>
  <p:slideViewPr>
    <p:cSldViewPr snapToGrid="0">
      <p:cViewPr varScale="1">
        <p:scale>
          <a:sx n="82" d="100"/>
          <a:sy n="82" d="100"/>
        </p:scale>
        <p:origin x="10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27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539966050" dt="2025-05-13T15:46:20.906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886B2-FB4C-4DDD-9AA5-BABDB7C2BC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96AC2-1205-4ECE-8BF7-F71FA977D37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25763" y="849313"/>
            <a:ext cx="4076700" cy="229393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816102-41C0-44AB-A0C6-6837EC277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6D9A4-3CD9-4AAF-85D1-739E13AB1F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516CB-89BF-445B-B774-375A88DDF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6D9A4-3CD9-4AAF-85D1-739E13AB1F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516CB-89BF-445B-B774-375A88DDF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6D9A4-3CD9-4AAF-85D1-739E13AB1F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516CB-89BF-445B-B774-375A88DDF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6D9A4-3CD9-4AAF-85D1-739E13AB1F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516CB-89BF-445B-B774-375A88DDF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6D9A4-3CD9-4AAF-85D1-739E13AB1F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516CB-89BF-445B-B774-375A88DDF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6D9A4-3CD9-4AAF-85D1-739E13AB1F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516CB-89BF-445B-B774-375A88DDF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6D9A4-3CD9-4AAF-85D1-739E13AB1F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516CB-89BF-445B-B774-375A88DDF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6D9A4-3CD9-4AAF-85D1-739E13AB1F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516CB-89BF-445B-B774-375A88DDF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6D9A4-3CD9-4AAF-85D1-739E13AB1F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516CB-89BF-445B-B774-375A88DDF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6D9A4-3CD9-4AAF-85D1-739E13AB1F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516CB-89BF-445B-B774-375A88DDF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6D9A4-3CD9-4AAF-85D1-739E13AB1F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516CB-89BF-445B-B774-375A88DDF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6D9A4-3CD9-4AAF-85D1-739E13AB1F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516CB-89BF-445B-B774-375A88DDF11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1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5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.xml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9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.xml"/><Relationship Id="rId2" Type="http://schemas.openxmlformats.org/officeDocument/2006/relationships/hyperlink" Target="https://finance.ustc.edu.cn/2022/0412/c22122a551610/page.htm" TargetMode="Externa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5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7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8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9.xml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0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2.xml"/><Relationship Id="rId2" Type="http://schemas.openxmlformats.org/officeDocument/2006/relationships/image" Target="../media/image1.png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3.xml"/><Relationship Id="rId4" Type="http://schemas.openxmlformats.org/officeDocument/2006/relationships/hyperlink" Target="https://rec.ustc.edu.cn/share/8c68c710-4a34-11ee-86ea-737281ff19b8" TargetMode="External"/><Relationship Id="rId3" Type="http://schemas.openxmlformats.org/officeDocument/2006/relationships/hyperlink" Target="https://rec.ustc.edu.cn/share/30fd29a0-4a34-11ee-b126-7515ac8f199a" TargetMode="External"/><Relationship Id="rId2" Type="http://schemas.openxmlformats.org/officeDocument/2006/relationships/hyperlink" Target="https://finance.ustc.edu.cn/_upload/article/files/bd/71/e4305a4c4ddd89571661b58b5134/b2b65010-9d92-4a3f-a253-0ca638840eba.pdf" TargetMode="Externa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4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5.xml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566284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1535113" y="6242050"/>
            <a:ext cx="9144000" cy="615950"/>
          </a:xfrm>
          <a:prstGeom prst="rect">
            <a:avLst/>
          </a:prstGeom>
          <a:gradFill rotWithShape="1">
            <a:gsLst>
              <a:gs pos="0">
                <a:srgbClr val="234B8D"/>
              </a:gs>
              <a:gs pos="100000">
                <a:srgbClr val="2F7AD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40025" y="2114794"/>
            <a:ext cx="6711950" cy="14763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60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社团财务报销流程</a:t>
            </a:r>
            <a:endParaRPr lang="zh-CN" altLang="en-US" sz="60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7" name="副标题 2"/>
          <p:cNvSpPr>
            <a:spLocks noGrp="1" noChangeArrowheads="1"/>
          </p:cNvSpPr>
          <p:nvPr>
            <p:ph type="subTitle" idx="1"/>
          </p:nvPr>
        </p:nvSpPr>
        <p:spPr>
          <a:xfrm>
            <a:off x="1535113" y="4458022"/>
            <a:ext cx="9144000" cy="107405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社团管指委财务部</a:t>
            </a:r>
            <a:endParaRPr lang="en-US" altLang="zh-CN" sz="2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altLang="zh-CN" sz="2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1218351"/>
            <a:ext cx="6711950" cy="9220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参考文件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1490345" y="2140585"/>
            <a:ext cx="10086340" cy="3117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7080885" y="1798955"/>
            <a:ext cx="4064000" cy="914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p>
            <a:pPr algn="l">
              <a:lnSpc>
                <a:spcPct val="150000"/>
              </a:lnSpc>
            </a:pPr>
            <a:endParaRPr lang="zh-CN" altLang="en-US" sz="28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345" y="2242185"/>
            <a:ext cx="9253220" cy="30168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702685" y="5360670"/>
            <a:ext cx="5525770" cy="666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3200" b="1" dirty="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+mn-ea"/>
              </a:rPr>
              <a:t>遇到问题先查工作手册！！！</a:t>
            </a:r>
            <a:endParaRPr lang="zh-CN" altLang="en-US" sz="3200" b="1" dirty="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1218351"/>
            <a:ext cx="6711950" cy="9220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社团财务报销群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qrcode_17471237179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192020"/>
            <a:ext cx="4105910" cy="43529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664075" y="2428240"/>
            <a:ext cx="6769735" cy="4140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algn="l">
              <a:lnSpc>
                <a:spcPct val="150000"/>
              </a:lnSpc>
            </a:pPr>
            <a:r>
              <a:rPr lang="zh-CN" altLang="en-US" sz="3600" b="1" dirty="0">
                <a:solidFill>
                  <a:srgbClr val="92D050"/>
                </a:solidFill>
                <a:latin typeface="+mn-ea"/>
              </a:rPr>
              <a:t>请社团的财务负责人务必加入此群聊，并按要求把群昵称改为</a:t>
            </a:r>
            <a:r>
              <a:rPr lang="en-US" altLang="zh-CN" sz="3600" b="1" dirty="0">
                <a:solidFill>
                  <a:srgbClr val="92D050"/>
                </a:solidFill>
                <a:latin typeface="+mn-ea"/>
              </a:rPr>
              <a:t>“</a:t>
            </a:r>
            <a:r>
              <a:rPr lang="zh-CN" altLang="en-US" sz="3600" b="1" dirty="0">
                <a:solidFill>
                  <a:srgbClr val="92D050"/>
                </a:solidFill>
                <a:latin typeface="+mn-ea"/>
              </a:rPr>
              <a:t>社团</a:t>
            </a:r>
            <a:r>
              <a:rPr lang="en-US" altLang="zh-CN" sz="3600" b="1" dirty="0">
                <a:solidFill>
                  <a:srgbClr val="92D050"/>
                </a:solidFill>
                <a:latin typeface="+mn-ea"/>
              </a:rPr>
              <a:t>+</a:t>
            </a:r>
            <a:r>
              <a:rPr lang="zh-CN" altLang="en-US" sz="3600" b="1" dirty="0">
                <a:solidFill>
                  <a:srgbClr val="92D050"/>
                </a:solidFill>
                <a:latin typeface="+mn-ea"/>
              </a:rPr>
              <a:t>姓名</a:t>
            </a:r>
            <a:r>
              <a:rPr lang="en-US" altLang="zh-CN" sz="3600" b="1" dirty="0">
                <a:solidFill>
                  <a:srgbClr val="92D050"/>
                </a:solidFill>
                <a:latin typeface="+mn-ea"/>
              </a:rPr>
              <a:t>”</a:t>
            </a:r>
            <a:r>
              <a:rPr lang="zh-CN" altLang="en-US" sz="3600" b="1" dirty="0">
                <a:solidFill>
                  <a:srgbClr val="92D050"/>
                </a:solidFill>
                <a:latin typeface="+mn-ea"/>
              </a:rPr>
              <a:t>，感谢配合！</a:t>
            </a:r>
            <a:endParaRPr lang="zh-CN" altLang="en-US" sz="3600" b="1" dirty="0">
              <a:solidFill>
                <a:srgbClr val="92D050"/>
              </a:solidFill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1218351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报销材料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1185493" y="2083660"/>
            <a:ext cx="10086513" cy="39813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2600" b="1" dirty="0">
                <a:latin typeface="+mn-ea"/>
              </a:rPr>
              <a:t>1. </a:t>
            </a:r>
            <a:r>
              <a:rPr lang="zh-CN" altLang="en-US" sz="2600" b="1" dirty="0">
                <a:latin typeface="+mn-ea"/>
              </a:rPr>
              <a:t>二课审批单</a:t>
            </a:r>
            <a:r>
              <a:rPr lang="en-US" altLang="zh-CN" sz="2600" b="1" dirty="0">
                <a:latin typeface="+mn-ea"/>
              </a:rPr>
              <a:t>/</a:t>
            </a:r>
            <a:r>
              <a:rPr lang="zh-CN" altLang="en-US" sz="2600" b="1" dirty="0">
                <a:latin typeface="+mn-ea"/>
              </a:rPr>
              <a:t>团学活动审批表</a:t>
            </a:r>
            <a:endParaRPr lang="zh-CN" altLang="en-US" sz="2600" b="1" dirty="0">
              <a:latin typeface="+mn-ea"/>
            </a:endParaRPr>
          </a:p>
          <a:p>
            <a:pPr algn="l">
              <a:lnSpc>
                <a:spcPts val="2640"/>
              </a:lnSpc>
            </a:pPr>
            <a:r>
              <a:rPr lang="en-US" altLang="zh-CN" dirty="0"/>
              <a:t>	</a:t>
            </a:r>
            <a:r>
              <a:rPr lang="zh-CN" altLang="en-US" dirty="0"/>
              <a:t>所有报销都需要审批单。</a:t>
            </a:r>
            <a:endParaRPr lang="en-US" altLang="zh-CN" dirty="0"/>
          </a:p>
          <a:p>
            <a:pPr algn="l">
              <a:lnSpc>
                <a:spcPts val="3500"/>
              </a:lnSpc>
            </a:pPr>
            <a:r>
              <a:rPr lang="en-US" altLang="zh-CN" dirty="0"/>
              <a:t>	</a:t>
            </a:r>
            <a:r>
              <a:rPr lang="zh-CN" altLang="en-US" dirty="0"/>
              <a:t>在申办活动时，请认真填写预算。报销时候会核对每一项预算与票据实际金额，如果</a:t>
            </a:r>
            <a:r>
              <a:rPr lang="zh-CN" altLang="en-US" dirty="0">
                <a:solidFill>
                  <a:srgbClr val="FF0000"/>
                </a:solidFill>
              </a:rPr>
              <a:t>超过预算或者出入过大，需要写说明并签字</a:t>
            </a:r>
            <a:r>
              <a:rPr lang="zh-CN" altLang="en-US" dirty="0"/>
              <a:t>。包含周常在内的所有系列</a:t>
            </a:r>
            <a:r>
              <a:rPr lang="en-US" altLang="zh-CN" dirty="0"/>
              <a:t>/</a:t>
            </a:r>
            <a:r>
              <a:rPr lang="zh-CN" altLang="en-US" dirty="0"/>
              <a:t>单项活动，未写预算则默认预算为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，注意不要在系列项目的子项目里填写预算。</a:t>
            </a:r>
            <a:endParaRPr lang="en-US" altLang="zh-CN" dirty="0"/>
          </a:p>
          <a:p>
            <a:pPr algn="l">
              <a:lnSpc>
                <a:spcPts val="2640"/>
              </a:lnSpc>
            </a:pPr>
            <a:r>
              <a:rPr lang="en-US" altLang="zh-CN" dirty="0"/>
              <a:t>	</a:t>
            </a:r>
            <a:r>
              <a:rPr lang="zh-CN" altLang="en-US" dirty="0"/>
              <a:t>对于非活动（比如物资采购）的报销，可以填写</a:t>
            </a:r>
            <a:r>
              <a:rPr lang="zh-CN" altLang="en-US" spc="-150" dirty="0">
                <a:solidFill>
                  <a:schemeClr val="tx1"/>
                </a:solidFill>
                <a:latin typeface="+mn-ea"/>
                <a:sym typeface="+mn-ea"/>
              </a:rPr>
              <a:t>社团财务报销群</a:t>
            </a:r>
            <a:r>
              <a:rPr lang="zh-CN" altLang="en-US" dirty="0"/>
              <a:t>群文件中的“团学活动审批表”，此表格填写完毕需</a:t>
            </a:r>
            <a:r>
              <a:rPr lang="zh-CN" altLang="en-US" b="1" dirty="0">
                <a:solidFill>
                  <a:srgbClr val="FF0000"/>
                </a:solidFill>
              </a:rPr>
              <a:t>提前</a:t>
            </a:r>
            <a:r>
              <a:rPr lang="zh-CN" altLang="en-US" dirty="0"/>
              <a:t>发给管指委老师确认预算。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412" y="5860122"/>
            <a:ext cx="2404275" cy="482519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1218351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报销材料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1445843" y="2140810"/>
            <a:ext cx="10086513" cy="39813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2600" b="1" dirty="0">
                <a:latin typeface="+mn-ea"/>
              </a:rPr>
              <a:t>2.</a:t>
            </a:r>
            <a:r>
              <a:rPr lang="zh-CN" altLang="en-US" sz="2600" b="1" dirty="0">
                <a:latin typeface="+mn-ea"/>
              </a:rPr>
              <a:t> 新闻稿</a:t>
            </a:r>
            <a:endParaRPr lang="en-US" altLang="zh-CN" sz="2600" dirty="0"/>
          </a:p>
          <a:p>
            <a:pPr algn="l">
              <a:lnSpc>
                <a:spcPts val="2640"/>
              </a:lnSpc>
            </a:pPr>
            <a:r>
              <a:rPr lang="en-US" altLang="zh-CN" dirty="0"/>
              <a:t>	</a:t>
            </a:r>
            <a:r>
              <a:rPr lang="zh-CN" altLang="en-US" dirty="0"/>
              <a:t>所有通过二课审批的以及活动报销都需要新闻稿。</a:t>
            </a:r>
            <a:endParaRPr lang="zh-CN" altLang="en-US" dirty="0"/>
          </a:p>
          <a:p>
            <a:pPr algn="l">
              <a:lnSpc>
                <a:spcPts val="2640"/>
              </a:lnSpc>
            </a:pPr>
            <a:r>
              <a:rPr lang="zh-CN" altLang="en-US" dirty="0"/>
              <a:t>	必须来自</a:t>
            </a:r>
            <a:r>
              <a:rPr lang="zh-CN" altLang="en-US" dirty="0">
                <a:solidFill>
                  <a:srgbClr val="FF0000"/>
                </a:solidFill>
              </a:rPr>
              <a:t>青春科大</a:t>
            </a:r>
            <a:r>
              <a:rPr lang="zh-CN" altLang="en-US" dirty="0"/>
              <a:t>网页（</a:t>
            </a:r>
            <a:r>
              <a:rPr lang="zh-CN" altLang="en-US" dirty="0"/>
              <a:t>或学校官网）。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143" y="4229086"/>
            <a:ext cx="4915194" cy="226918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04025" y="3618966"/>
            <a:ext cx="21971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latin typeface="+mn-ea"/>
              </a:rPr>
              <a:t>↓</a:t>
            </a:r>
            <a:r>
              <a:rPr lang="zh-CN" altLang="en-US" sz="2000" b="1" dirty="0">
                <a:latin typeface="+mn-ea"/>
              </a:rPr>
              <a:t>带有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标题</a:t>
            </a:r>
            <a:endParaRPr lang="zh-CN" altLang="en-US" sz="2000" b="1" dirty="0">
              <a:solidFill>
                <a:srgbClr val="FF0000"/>
              </a:solidFill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862751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报销材料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1490293" y="1688690"/>
            <a:ext cx="10086513" cy="39813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2600" b="1" dirty="0">
                <a:latin typeface="+mn-ea"/>
              </a:rPr>
              <a:t>3. </a:t>
            </a:r>
            <a:r>
              <a:rPr lang="zh-CN" altLang="en-US" sz="2600" b="1" dirty="0">
                <a:latin typeface="+mn-ea"/>
              </a:rPr>
              <a:t>发票</a:t>
            </a:r>
            <a:r>
              <a:rPr lang="zh-CN" altLang="en-US" sz="2600" dirty="0">
                <a:latin typeface="+mn-ea"/>
              </a:rPr>
              <a:t>和对应清单</a:t>
            </a:r>
            <a:r>
              <a:rPr lang="en-US" altLang="zh-CN" sz="2600" dirty="0">
                <a:latin typeface="+mn-ea"/>
              </a:rPr>
              <a:t>/</a:t>
            </a:r>
            <a:r>
              <a:rPr lang="zh-CN" altLang="en-US" sz="2600" dirty="0">
                <a:latin typeface="+mn-ea"/>
              </a:rPr>
              <a:t>购物截图</a:t>
            </a:r>
            <a:endParaRPr lang="zh-CN" altLang="en-US" sz="2600" dirty="0">
              <a:latin typeface="+mn-ea"/>
            </a:endParaRPr>
          </a:p>
          <a:p>
            <a:pPr algn="l">
              <a:lnSpc>
                <a:spcPts val="2640"/>
              </a:lnSpc>
            </a:pPr>
            <a:r>
              <a:rPr lang="en-US" altLang="zh-CN" dirty="0"/>
              <a:t>	</a:t>
            </a:r>
            <a:r>
              <a:rPr lang="zh-CN" altLang="en-US" dirty="0"/>
              <a:t>开票信息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必须一字不差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  <a:p>
            <a:pPr algn="l">
              <a:lnSpc>
                <a:spcPts val="2640"/>
              </a:lnSpc>
            </a:pPr>
            <a:r>
              <a:rPr lang="zh-CN" altLang="en-US" dirty="0"/>
              <a:t>		单位名称：中国科学技术大学</a:t>
            </a:r>
            <a:endParaRPr lang="zh-CN" altLang="en-US" dirty="0"/>
          </a:p>
          <a:p>
            <a:pPr algn="l">
              <a:lnSpc>
                <a:spcPts val="2640"/>
              </a:lnSpc>
            </a:pPr>
            <a:r>
              <a:rPr lang="zh-CN" altLang="en-US" dirty="0"/>
              <a:t>		税    号：</a:t>
            </a:r>
            <a:r>
              <a:rPr lang="en-US" altLang="zh-CN" dirty="0"/>
              <a:t>12100000485001086E</a:t>
            </a:r>
            <a:endParaRPr lang="en-US" altLang="zh-CN" dirty="0"/>
          </a:p>
          <a:p>
            <a:pPr algn="l">
              <a:lnSpc>
                <a:spcPts val="2640"/>
              </a:lnSpc>
            </a:pPr>
            <a:r>
              <a:rPr lang="en-US" altLang="zh-CN" dirty="0"/>
              <a:t>		</a:t>
            </a:r>
            <a:r>
              <a:rPr lang="zh-CN" altLang="en-US" dirty="0"/>
              <a:t>地    址：安徽省合肥市金寨路</a:t>
            </a:r>
            <a:r>
              <a:rPr lang="en-US" altLang="zh-CN" dirty="0"/>
              <a:t>96</a:t>
            </a:r>
            <a:r>
              <a:rPr lang="zh-CN" altLang="en-US" dirty="0"/>
              <a:t>号</a:t>
            </a:r>
            <a:endParaRPr lang="zh-CN" altLang="en-US" dirty="0"/>
          </a:p>
          <a:p>
            <a:pPr algn="l">
              <a:lnSpc>
                <a:spcPts val="2640"/>
              </a:lnSpc>
            </a:pPr>
            <a:r>
              <a:rPr lang="zh-CN" altLang="en-US" dirty="0"/>
              <a:t>		电    话：</a:t>
            </a:r>
            <a:r>
              <a:rPr lang="en-US" altLang="zh-CN" dirty="0"/>
              <a:t>0551-63607156</a:t>
            </a:r>
            <a:endParaRPr lang="en-US" altLang="zh-CN" dirty="0"/>
          </a:p>
          <a:p>
            <a:pPr algn="l">
              <a:lnSpc>
                <a:spcPts val="2640"/>
              </a:lnSpc>
            </a:pPr>
            <a:r>
              <a:rPr lang="en-US" altLang="zh-CN" dirty="0"/>
              <a:t>		</a:t>
            </a:r>
            <a:r>
              <a:rPr lang="zh-CN" altLang="en-US" dirty="0"/>
              <a:t>开户银行：中国银行合肥蜀山支行营业部</a:t>
            </a:r>
            <a:endParaRPr lang="zh-CN" altLang="en-US" dirty="0"/>
          </a:p>
          <a:p>
            <a:pPr algn="l">
              <a:lnSpc>
                <a:spcPts val="2640"/>
              </a:lnSpc>
            </a:pPr>
            <a:r>
              <a:rPr lang="zh-CN" altLang="en-US" dirty="0"/>
              <a:t>		银行账号：</a:t>
            </a:r>
            <a:r>
              <a:rPr lang="en-US" altLang="zh-CN" dirty="0"/>
              <a:t>184203468850</a:t>
            </a:r>
            <a:endParaRPr lang="en-US" altLang="zh-CN" dirty="0"/>
          </a:p>
          <a:p>
            <a:pPr algn="l">
              <a:lnSpc>
                <a:spcPts val="264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注：</a:t>
            </a:r>
            <a:r>
              <a:rPr lang="en-US" altLang="zh-CN" sz="2000" dirty="0">
                <a:solidFill>
                  <a:srgbClr val="FF0000"/>
                </a:solidFill>
              </a:rPr>
              <a:t>1.</a:t>
            </a:r>
            <a:r>
              <a:rPr lang="zh-CN" altLang="en-US" sz="2000" dirty="0">
                <a:solidFill>
                  <a:srgbClr val="FF0000"/>
                </a:solidFill>
              </a:rPr>
              <a:t>抬头类型选企业。</a:t>
            </a:r>
            <a:r>
              <a:rPr lang="en-US" altLang="zh-CN" sz="2000" dirty="0">
                <a:solidFill>
                  <a:srgbClr val="FF0000"/>
                </a:solidFill>
              </a:rPr>
              <a:t>2.</a:t>
            </a:r>
            <a:r>
              <a:rPr lang="zh-CN" altLang="en-US" sz="2000" dirty="0">
                <a:solidFill>
                  <a:srgbClr val="FF0000"/>
                </a:solidFill>
              </a:rPr>
              <a:t>如果使用基金会经费报销，开票单位为基金会。</a:t>
            </a:r>
            <a:r>
              <a:rPr lang="en-US" altLang="zh-CN" sz="2000" dirty="0">
                <a:solidFill>
                  <a:srgbClr val="FF0000"/>
                </a:solidFill>
              </a:rPr>
              <a:t>3.</a:t>
            </a:r>
            <a:r>
              <a:rPr lang="zh-CN" altLang="en-US" sz="2000" dirty="0">
                <a:solidFill>
                  <a:srgbClr val="FF0000"/>
                </a:solidFill>
              </a:rPr>
              <a:t>购买物品时请一定提前向商家确认能否开发票，否则后期可能无法报销。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/>
          <p:nvPr/>
        </p:nvSpPr>
        <p:spPr>
          <a:xfrm>
            <a:off x="1109293" y="2102710"/>
            <a:ext cx="10086513" cy="39813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2600" b="1" dirty="0">
                <a:latin typeface="+mn-ea"/>
              </a:rPr>
              <a:t>3. </a:t>
            </a:r>
            <a:r>
              <a:rPr lang="zh-CN" altLang="en-US" sz="2600" b="1" dirty="0">
                <a:latin typeface="+mn-ea"/>
              </a:rPr>
              <a:t>发票</a:t>
            </a:r>
            <a:r>
              <a:rPr lang="zh-CN" altLang="en-US" sz="2600" dirty="0">
                <a:latin typeface="+mn-ea"/>
              </a:rPr>
              <a:t>和</a:t>
            </a:r>
            <a:r>
              <a:rPr lang="zh-CN" altLang="en-US" sz="2600" dirty="0">
                <a:latin typeface="+mn-ea"/>
                <a:sym typeface="+mn-ea"/>
              </a:rPr>
              <a:t>对应购物截图</a:t>
            </a:r>
            <a:r>
              <a:rPr lang="en-US" altLang="zh-CN" sz="2600" dirty="0">
                <a:latin typeface="+mn-ea"/>
                <a:sym typeface="+mn-ea"/>
              </a:rPr>
              <a:t>/</a:t>
            </a:r>
            <a:r>
              <a:rPr lang="zh-CN" altLang="en-US" sz="2600" dirty="0">
                <a:latin typeface="+mn-ea"/>
                <a:sym typeface="+mn-ea"/>
              </a:rPr>
              <a:t>清单</a:t>
            </a:r>
            <a:endParaRPr lang="zh-CN" altLang="en-US" sz="2600" dirty="0">
              <a:latin typeface="+mn-ea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所有</a:t>
            </a:r>
            <a:r>
              <a:rPr lang="zh-CN" altLang="en-US" sz="2000" dirty="0">
                <a:solidFill>
                  <a:srgbClr val="FF0000"/>
                </a:solidFill>
              </a:rPr>
              <a:t>发票正面下端</a:t>
            </a:r>
            <a:r>
              <a:rPr lang="zh-CN" altLang="en-US" sz="2000" dirty="0"/>
              <a:t>注明：发票所购用品的活动用途</a:t>
            </a:r>
            <a:r>
              <a:rPr lang="zh-CN" altLang="en-US" sz="2000" dirty="0">
                <a:sym typeface="+mn-ea"/>
              </a:rPr>
              <a:t>并签姓名学号。</a:t>
            </a:r>
            <a:endParaRPr lang="zh-CN" altLang="en-US" sz="2000" dirty="0">
              <a:sym typeface="+mn-ea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 sz="2000" dirty="0"/>
              <a:t>纸质发票需要粘贴到：                          ，粘贴时需将发票左侧与粘贴纸虚线对齐，胶水只需涂抹左侧。</a:t>
            </a:r>
            <a:endParaRPr lang="zh-CN" altLang="en-US" sz="2000" dirty="0"/>
          </a:p>
          <a:p>
            <a:pPr indent="457200" algn="l" fontAlgn="auto">
              <a:lnSpc>
                <a:spcPct val="150000"/>
              </a:lnSpc>
            </a:pPr>
            <a:r>
              <a:rPr lang="zh-CN" altLang="en-US" sz="2000" dirty="0"/>
              <a:t>如果开票日期</a:t>
            </a:r>
            <a:r>
              <a:rPr lang="zh-CN" altLang="en-US" sz="2000" dirty="0">
                <a:solidFill>
                  <a:srgbClr val="FF0000"/>
                </a:solidFill>
              </a:rPr>
              <a:t>晚于</a:t>
            </a:r>
            <a:r>
              <a:rPr lang="zh-CN" altLang="en-US" sz="2000" dirty="0"/>
              <a:t>活动举办时间，需要写说明并签姓名学号。</a:t>
            </a:r>
            <a:endParaRPr lang="zh-CN" altLang="en-US" sz="2000" dirty="0"/>
          </a:p>
          <a:p>
            <a:pPr indent="457200" algn="l" fontAlgn="auto">
              <a:lnSpc>
                <a:spcPct val="150000"/>
              </a:lnSpc>
            </a:pPr>
            <a:r>
              <a:rPr lang="zh-CN" altLang="en-US" sz="2000" dirty="0"/>
              <a:t>如果</a:t>
            </a:r>
            <a:r>
              <a:rPr lang="zh-CN" altLang="en-US" sz="2000" dirty="0">
                <a:solidFill>
                  <a:srgbClr val="FF0000"/>
                </a:solidFill>
              </a:rPr>
              <a:t>发票金额</a:t>
            </a:r>
            <a:r>
              <a:rPr lang="zh-CN" altLang="en-US" sz="2000" dirty="0"/>
              <a:t>与</a:t>
            </a:r>
            <a:r>
              <a:rPr lang="zh-CN" altLang="en-US" sz="2000" dirty="0">
                <a:solidFill>
                  <a:srgbClr val="FF0000"/>
                </a:solidFill>
              </a:rPr>
              <a:t>清单</a:t>
            </a:r>
            <a:r>
              <a:rPr lang="en-US" altLang="zh-CN" sz="2000" dirty="0">
                <a:solidFill>
                  <a:srgbClr val="FF0000"/>
                </a:solidFill>
              </a:rPr>
              <a:t>/</a:t>
            </a:r>
            <a:r>
              <a:rPr lang="zh-CN" altLang="en-US" sz="2000" dirty="0">
                <a:solidFill>
                  <a:srgbClr val="FF0000"/>
                </a:solidFill>
              </a:rPr>
              <a:t>购物截图金额不对应</a:t>
            </a:r>
            <a:r>
              <a:rPr lang="zh-CN" altLang="en-US" sz="2000" dirty="0"/>
              <a:t>，需备注实际报销金额并</a:t>
            </a:r>
            <a:r>
              <a:rPr lang="zh-CN" altLang="en-US" sz="2000" dirty="0">
                <a:sym typeface="+mn-ea"/>
              </a:rPr>
              <a:t>签姓名学号</a:t>
            </a:r>
            <a:r>
              <a:rPr lang="zh-CN" altLang="en-US" sz="2000" dirty="0"/>
              <a:t>。</a:t>
            </a:r>
            <a:r>
              <a:rPr lang="en-US" altLang="zh-CN" sz="2000" dirty="0"/>
              <a:t>(</a:t>
            </a:r>
            <a:r>
              <a:rPr lang="zh-CN" altLang="en-US" sz="2000" dirty="0"/>
              <a:t>一般取两者中</a:t>
            </a:r>
            <a:r>
              <a:rPr lang="zh-CN" altLang="en-US" sz="2000" dirty="0"/>
              <a:t>较小值，然后在发票金额的右边写上</a:t>
            </a:r>
            <a:r>
              <a:rPr lang="en-US" altLang="zh-CN" sz="2000" dirty="0"/>
              <a:t>“</a:t>
            </a:r>
            <a:r>
              <a:rPr lang="zh-CN" altLang="en-US" sz="2000" dirty="0"/>
              <a:t>按发票金额</a:t>
            </a:r>
            <a:r>
              <a:rPr lang="en-US" altLang="zh-CN" sz="2000" dirty="0"/>
              <a:t>/</a:t>
            </a:r>
            <a:r>
              <a:rPr lang="zh-CN" altLang="en-US" sz="2000" dirty="0"/>
              <a:t>实付款</a:t>
            </a:r>
            <a:r>
              <a:rPr lang="en-US" altLang="zh-CN" sz="2000" dirty="0"/>
              <a:t>XX</a:t>
            </a:r>
            <a:r>
              <a:rPr lang="zh-CN" altLang="en-US" sz="2000" dirty="0"/>
              <a:t>元报销</a:t>
            </a:r>
            <a:r>
              <a:rPr lang="en-US" altLang="zh-CN" sz="2000" dirty="0"/>
              <a:t> ”)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4630" y="3549015"/>
            <a:ext cx="1708785" cy="414020"/>
          </a:xfrm>
          <a:prstGeom prst="rect">
            <a:avLst/>
          </a:prstGeom>
        </p:spPr>
      </p:pic>
      <p:pic>
        <p:nvPicPr>
          <p:cNvPr id="307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1218351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报销材料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1218351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报销材料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1490293" y="2140810"/>
            <a:ext cx="10086513" cy="39813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2600" b="1" dirty="0">
                <a:latin typeface="+mn-ea"/>
              </a:rPr>
              <a:t>3. </a:t>
            </a:r>
            <a:r>
              <a:rPr lang="zh-CN" altLang="en-US" sz="2600" dirty="0">
                <a:latin typeface="+mn-ea"/>
              </a:rPr>
              <a:t>发票和</a:t>
            </a:r>
            <a:r>
              <a:rPr lang="zh-CN" altLang="en-US" sz="2600" b="1" dirty="0">
                <a:latin typeface="+mn-ea"/>
              </a:rPr>
              <a:t>对应购物截图</a:t>
            </a:r>
            <a:r>
              <a:rPr lang="en-US" altLang="zh-CN" sz="2600" dirty="0">
                <a:latin typeface="+mn-ea"/>
              </a:rPr>
              <a:t>/</a:t>
            </a:r>
            <a:r>
              <a:rPr lang="zh-CN" altLang="en-US" sz="2600" dirty="0">
                <a:latin typeface="+mn-ea"/>
                <a:sym typeface="+mn-ea"/>
              </a:rPr>
              <a:t>清单</a:t>
            </a:r>
            <a:endParaRPr lang="zh-CN" altLang="en-US" sz="2600" dirty="0">
              <a:latin typeface="+mn-ea"/>
            </a:endParaRPr>
          </a:p>
          <a:p>
            <a:pPr algn="l">
              <a:lnSpc>
                <a:spcPts val="2640"/>
              </a:lnSpc>
            </a:pPr>
            <a:r>
              <a:rPr lang="en-US" altLang="zh-CN" dirty="0"/>
              <a:t>	</a:t>
            </a:r>
            <a:endParaRPr lang="en-US" altLang="zh-CN" dirty="0"/>
          </a:p>
          <a:p>
            <a:pPr algn="l">
              <a:lnSpc>
                <a:spcPts val="2640"/>
              </a:lnSpc>
            </a:pPr>
            <a:r>
              <a:rPr lang="en-US" altLang="zh-CN" sz="2200" dirty="0"/>
              <a:t>	</a:t>
            </a:r>
            <a:r>
              <a:rPr lang="zh-CN" altLang="en-US" sz="2200" dirty="0"/>
              <a:t>在合肥市内</a:t>
            </a:r>
            <a:r>
              <a:rPr lang="zh-CN" altLang="en-US" sz="2200" dirty="0">
                <a:solidFill>
                  <a:srgbClr val="FF0000"/>
                </a:solidFill>
              </a:rPr>
              <a:t>线下</a:t>
            </a:r>
            <a:r>
              <a:rPr lang="zh-CN" altLang="en-US" sz="2200" dirty="0"/>
              <a:t>购入物品且发票含有明细的，可不提供购物截图。</a:t>
            </a:r>
            <a:endParaRPr lang="en-US" altLang="zh-CN" sz="2200" dirty="0"/>
          </a:p>
          <a:p>
            <a:pPr algn="l">
              <a:lnSpc>
                <a:spcPts val="2640"/>
              </a:lnSpc>
            </a:pPr>
            <a:r>
              <a:rPr lang="en-US" altLang="zh-CN" sz="2200" dirty="0"/>
              <a:t>	</a:t>
            </a:r>
            <a:r>
              <a:rPr lang="zh-CN" altLang="en-US" sz="2200" dirty="0"/>
              <a:t>对于非线下购买的物品，需要购物截图。</a:t>
            </a:r>
            <a:endParaRPr lang="zh-CN" altLang="en-US" sz="2200" dirty="0"/>
          </a:p>
          <a:p>
            <a:pPr algn="l">
              <a:lnSpc>
                <a:spcPts val="2640"/>
              </a:lnSpc>
            </a:pPr>
            <a:r>
              <a:rPr lang="zh-CN" altLang="en-US" sz="2200" dirty="0"/>
              <a:t>	截图应当包含：</a:t>
            </a:r>
            <a:r>
              <a:rPr lang="zh-CN" altLang="en-US" sz="2200" dirty="0">
                <a:solidFill>
                  <a:srgbClr val="FF0000"/>
                </a:solidFill>
              </a:rPr>
              <a:t>购买物品、实付款、收货地址（应在校内，不在校内需要写说明，例如收货地址是社团哪位同学（姓名</a:t>
            </a:r>
            <a:r>
              <a:rPr lang="en-US" altLang="zh-CN" sz="2200" dirty="0">
                <a:solidFill>
                  <a:srgbClr val="FF0000"/>
                </a:solidFill>
              </a:rPr>
              <a:t>+</a:t>
            </a:r>
            <a:r>
              <a:rPr lang="zh-CN" altLang="en-US" sz="2200" dirty="0">
                <a:solidFill>
                  <a:srgbClr val="FF0000"/>
                </a:solidFill>
              </a:rPr>
              <a:t>学号）在校外的住址）</a:t>
            </a:r>
            <a:r>
              <a:rPr lang="zh-CN" altLang="en-US" sz="2200" dirty="0"/>
              <a:t>。</a:t>
            </a:r>
            <a:endParaRPr lang="zh-CN" altLang="en-US" sz="2200" dirty="0"/>
          </a:p>
          <a:p>
            <a:pPr algn="l">
              <a:lnSpc>
                <a:spcPts val="2640"/>
              </a:lnSpc>
            </a:pPr>
            <a:endParaRPr lang="zh-CN" altLang="en-US" sz="2200" dirty="0">
              <a:solidFill>
                <a:srgbClr val="FF0000"/>
              </a:solidFill>
            </a:endParaRPr>
          </a:p>
          <a:p>
            <a:pPr algn="l">
              <a:lnSpc>
                <a:spcPts val="2640"/>
              </a:lnSpc>
            </a:pPr>
            <a:endParaRPr lang="en-US" altLang="zh-CN" sz="2200" dirty="0"/>
          </a:p>
          <a:p>
            <a:pPr algn="l">
              <a:lnSpc>
                <a:spcPts val="2640"/>
              </a:lnSpc>
            </a:pPr>
            <a:r>
              <a:rPr lang="zh-CN" altLang="en-US" sz="2200" b="1" dirty="0"/>
              <a:t>注：发票上的商品类别和商品明细需与购物截图上的商品一致。</a:t>
            </a:r>
            <a:endParaRPr lang="zh-CN" altLang="en-US" sz="2200" b="1" dirty="0"/>
          </a:p>
          <a:p>
            <a:pPr algn="l">
              <a:lnSpc>
                <a:spcPts val="2640"/>
              </a:lnSpc>
            </a:pPr>
            <a:endParaRPr lang="zh-CN" altLang="en-US" sz="22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855" y="0"/>
            <a:ext cx="4150995" cy="27774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内容占位符 2"/>
          <p:cNvSpPr txBox="1"/>
          <p:nvPr/>
        </p:nvSpPr>
        <p:spPr>
          <a:xfrm>
            <a:off x="1419808" y="1230855"/>
            <a:ext cx="10086513" cy="39813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640"/>
              </a:lnSpc>
            </a:pPr>
            <a:r>
              <a:rPr lang="en-US" altLang="zh-CN" b="1" dirty="0">
                <a:latin typeface="+mn-ea"/>
                <a:sym typeface="+mn-ea"/>
              </a:rPr>
              <a:t>3. </a:t>
            </a:r>
            <a:r>
              <a:rPr lang="zh-CN" altLang="en-US" dirty="0">
                <a:latin typeface="+mn-ea"/>
                <a:sym typeface="+mn-ea"/>
              </a:rPr>
              <a:t>发票和对应购物截图</a:t>
            </a:r>
            <a:r>
              <a:rPr lang="en-US" altLang="zh-CN" dirty="0">
                <a:latin typeface="+mn-ea"/>
                <a:sym typeface="+mn-ea"/>
              </a:rPr>
              <a:t>/</a:t>
            </a:r>
            <a:r>
              <a:rPr lang="zh-CN" altLang="en-US" b="1" dirty="0">
                <a:latin typeface="+mn-ea"/>
                <a:sym typeface="+mn-ea"/>
              </a:rPr>
              <a:t>清单</a:t>
            </a:r>
            <a:endParaRPr lang="zh-CN" altLang="en-US" dirty="0"/>
          </a:p>
          <a:p>
            <a:pPr algn="l">
              <a:lnSpc>
                <a:spcPts val="2640"/>
              </a:lnSpc>
            </a:pPr>
            <a:r>
              <a:rPr lang="zh-CN" altLang="en-US" sz="2000" dirty="0"/>
              <a:t>①何时需要提交清单？</a:t>
            </a:r>
            <a:endParaRPr lang="zh-CN" altLang="en-US" sz="2000" dirty="0"/>
          </a:p>
          <a:p>
            <a:pPr algn="l">
              <a:lnSpc>
                <a:spcPts val="2640"/>
              </a:lnSpc>
            </a:pPr>
            <a:r>
              <a:rPr lang="zh-CN" altLang="en-US" sz="2000" dirty="0"/>
              <a:t>发票中缺少明细信息时需提交清单（缺少单位、数量信息，也没有备注）。</a:t>
            </a:r>
            <a:endParaRPr lang="zh-CN" altLang="en-US" sz="2000" dirty="0"/>
          </a:p>
          <a:p>
            <a:pPr algn="l">
              <a:lnSpc>
                <a:spcPts val="2640"/>
              </a:lnSpc>
            </a:pPr>
            <a:r>
              <a:rPr lang="zh-CN" altLang="en-US" sz="2000" dirty="0"/>
              <a:t>例如：</a:t>
            </a:r>
            <a:endParaRPr lang="zh-CN" altLang="en-US" sz="2000" dirty="0"/>
          </a:p>
          <a:p>
            <a:pPr algn="l">
              <a:lnSpc>
                <a:spcPts val="2640"/>
              </a:lnSpc>
            </a:pPr>
            <a:endParaRPr lang="zh-CN" altLang="en-US" sz="2000" dirty="0"/>
          </a:p>
          <a:p>
            <a:pPr algn="l">
              <a:lnSpc>
                <a:spcPts val="2640"/>
              </a:lnSpc>
            </a:pPr>
            <a:endParaRPr lang="zh-CN" altLang="en-US" sz="2000" dirty="0"/>
          </a:p>
          <a:p>
            <a:pPr algn="l">
              <a:lnSpc>
                <a:spcPts val="2640"/>
              </a:lnSpc>
            </a:pPr>
            <a:endParaRPr lang="zh-CN" altLang="en-US" sz="2000" dirty="0"/>
          </a:p>
          <a:p>
            <a:pPr algn="l">
              <a:lnSpc>
                <a:spcPts val="2640"/>
              </a:lnSpc>
            </a:pPr>
            <a:endParaRPr lang="zh-CN" altLang="en-US" sz="2000" dirty="0"/>
          </a:p>
          <a:p>
            <a:pPr algn="l">
              <a:lnSpc>
                <a:spcPts val="2640"/>
              </a:lnSpc>
            </a:pPr>
            <a:r>
              <a:rPr lang="zh-CN" altLang="en-US" sz="2000" dirty="0"/>
              <a:t>②清单格式：</a:t>
            </a:r>
            <a:endParaRPr lang="zh-CN" altLang="en-US" sz="2000" dirty="0"/>
          </a:p>
          <a:p>
            <a:pPr algn="l">
              <a:lnSpc>
                <a:spcPts val="2640"/>
              </a:lnSpc>
            </a:pPr>
            <a:r>
              <a:rPr lang="zh-CN" altLang="en-US" sz="2000" dirty="0"/>
              <a:t>包含物品名称、单价、数量等信息即可，公司盖章。</a:t>
            </a:r>
            <a:r>
              <a:rPr lang="zh-CN" altLang="en-US" sz="2000" dirty="0"/>
              <a:t>例如：</a:t>
            </a:r>
            <a:endParaRPr lang="zh-CN" altLang="en-US" dirty="0"/>
          </a:p>
          <a:p>
            <a:pPr algn="l">
              <a:lnSpc>
                <a:spcPts val="2640"/>
              </a:lnSpc>
            </a:pPr>
            <a:r>
              <a:rPr lang="en-US" altLang="zh-CN" sz="2200" dirty="0"/>
              <a:t>	</a:t>
            </a:r>
            <a:endParaRPr lang="zh-CN" altLang="en-US" sz="2200" dirty="0">
              <a:solidFill>
                <a:srgbClr val="FF0000"/>
              </a:solidFill>
            </a:endParaRPr>
          </a:p>
          <a:p>
            <a:pPr algn="l">
              <a:lnSpc>
                <a:spcPts val="2640"/>
              </a:lnSpc>
            </a:pPr>
            <a:endParaRPr lang="en-US" altLang="zh-CN" sz="2200" dirty="0"/>
          </a:p>
          <a:p>
            <a:pPr algn="l">
              <a:lnSpc>
                <a:spcPts val="2640"/>
              </a:lnSpc>
            </a:pPr>
            <a:endParaRPr lang="zh-CN" altLang="en-US" sz="2200" dirty="0">
              <a:solidFill>
                <a:srgbClr val="FF0000"/>
              </a:solidFill>
            </a:endParaRPr>
          </a:p>
        </p:txBody>
      </p:sp>
      <p:pic>
        <p:nvPicPr>
          <p:cNvPr id="4" name="图片 5"/>
          <p:cNvPicPr>
            <a:picLocks noChangeAspect="1"/>
          </p:cNvPicPr>
          <p:nvPr/>
        </p:nvPicPr>
        <p:blipFill>
          <a:blip r:embed="rId2"/>
          <a:srcRect t="2656"/>
          <a:stretch>
            <a:fillRect/>
          </a:stretch>
        </p:blipFill>
        <p:spPr>
          <a:xfrm>
            <a:off x="3075305" y="2719705"/>
            <a:ext cx="3742055" cy="227203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椭圆 15"/>
          <p:cNvSpPr/>
          <p:nvPr/>
        </p:nvSpPr>
        <p:spPr>
          <a:xfrm>
            <a:off x="4062095" y="3496310"/>
            <a:ext cx="901700" cy="297815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9" name="图片 9" descr="IMG_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465" y="2719705"/>
            <a:ext cx="4164330" cy="25742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625725" y="1070396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报销材料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967740" y="2044065"/>
            <a:ext cx="10257155" cy="4718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2600" b="1" dirty="0">
                <a:latin typeface="+mn-ea"/>
              </a:rPr>
              <a:t>4. </a:t>
            </a:r>
            <a:r>
              <a:rPr lang="zh-CN" altLang="en-US" sz="2600" b="1" dirty="0">
                <a:latin typeface="+mn-ea"/>
              </a:rPr>
              <a:t>签领单</a:t>
            </a:r>
            <a:endParaRPr lang="en-US" altLang="zh-CN" sz="2600" b="1" dirty="0">
              <a:latin typeface="+mn-ea"/>
            </a:endParaRPr>
          </a:p>
          <a:p>
            <a:pPr algn="l"/>
            <a:r>
              <a:rPr lang="en-US" altLang="zh-CN" dirty="0"/>
              <a:t>	</a:t>
            </a:r>
            <a:r>
              <a:rPr lang="zh-CN" altLang="en-US" dirty="0"/>
              <a:t>所有的奖品</a:t>
            </a:r>
            <a:r>
              <a:rPr lang="zh-CN" altLang="en-US" dirty="0"/>
              <a:t>和服装都需要签领。</a:t>
            </a:r>
            <a:endParaRPr lang="en-US" altLang="zh-CN" dirty="0"/>
          </a:p>
          <a:p>
            <a:pPr algn="l"/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签领单需包含：</a:t>
            </a:r>
            <a:r>
              <a:rPr lang="zh-CN" altLang="en-US" dirty="0">
                <a:solidFill>
                  <a:srgbClr val="FF0000"/>
                </a:solidFill>
              </a:rPr>
              <a:t>本人手写签名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、学号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工号（若为校外</a:t>
            </a:r>
            <a:r>
              <a:rPr lang="zh-CN" altLang="en-US" dirty="0">
                <a:solidFill>
                  <a:srgbClr val="FF0000"/>
                </a:solidFill>
              </a:rPr>
              <a:t>参与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活动人员，请单独注明）、奖品名称、领取数量、</a:t>
            </a:r>
            <a:r>
              <a:rPr lang="zh-CN" altLang="en-US" dirty="0">
                <a:solidFill>
                  <a:srgbClr val="FF0000"/>
                </a:solidFill>
              </a:rPr>
              <a:t>奖项类别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注意：</a:t>
            </a:r>
            <a:endParaRPr lang="en-US" altLang="zh-C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奖品数量需要</a:t>
            </a:r>
            <a:r>
              <a:rPr lang="zh-CN" altLang="en-US" dirty="0">
                <a:solidFill>
                  <a:srgbClr val="FF0000"/>
                </a:solidFill>
              </a:rPr>
              <a:t>与购买数量一致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，如有剩余，需说明具体剩余数量，存放地点，存放负责人。所写说明需签字和注明日期。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奖项类别指奖品需要区分等级，</a:t>
            </a:r>
            <a:r>
              <a:rPr lang="zh-CN" altLang="en-US" dirty="0">
                <a:solidFill>
                  <a:srgbClr val="FF0000"/>
                </a:solidFill>
              </a:rPr>
              <a:t>不允许无差别获奖（如参与奖）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，若有大面积发放情况，可通过“宣传奖”的形式发放，但仍需要签领表。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457200" algn="l"/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如果是大型活动的奖品发放规则比较复杂，需要附上奖品发放规则。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>
              <a:lnSpc>
                <a:spcPts val="2640"/>
              </a:lnSpc>
            </a:pPr>
            <a:endParaRPr lang="zh-CN" altLang="en-US" sz="2200" dirty="0"/>
          </a:p>
          <a:p>
            <a:pPr algn="l">
              <a:lnSpc>
                <a:spcPts val="2640"/>
              </a:lnSpc>
            </a:pPr>
            <a:endParaRPr lang="zh-CN" altLang="en-US" sz="2200" dirty="0">
              <a:solidFill>
                <a:srgbClr val="FF0000"/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8529955" y="270510"/>
          <a:ext cx="2865120" cy="272161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</a:tblGrid>
              <a:tr h="201295">
                <a:tc gridSpan="3"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xx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活动奖品签领表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1295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奖品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...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...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080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大熊硬糖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715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大熊硬糖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080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大熊硬糖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7350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小熊软糖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080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小熊软糖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715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小熊软糖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1067856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报销材料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1134693" y="1893795"/>
            <a:ext cx="10086513" cy="46155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2600" b="1" dirty="0">
                <a:latin typeface="+mn-ea"/>
              </a:rPr>
              <a:t>5. </a:t>
            </a:r>
            <a:r>
              <a:rPr lang="zh-CN" altLang="en-US" sz="2600" b="1" dirty="0">
                <a:latin typeface="+mn-ea"/>
              </a:rPr>
              <a:t>打车费</a:t>
            </a:r>
            <a:r>
              <a:rPr lang="en-US" altLang="zh-CN" sz="2600" b="1" dirty="0">
                <a:latin typeface="+mn-ea"/>
              </a:rPr>
              <a:t>/</a:t>
            </a:r>
            <a:r>
              <a:rPr lang="zh-CN" altLang="en-US" sz="2600" b="1" dirty="0">
                <a:latin typeface="+mn-ea"/>
              </a:rPr>
              <a:t>差旅费</a:t>
            </a:r>
            <a:endParaRPr lang="en-US" altLang="zh-CN" sz="2600" b="1" dirty="0">
              <a:latin typeface="+mn-ea"/>
            </a:endParaRPr>
          </a:p>
          <a:p>
            <a:pPr algn="l"/>
            <a:r>
              <a:rPr lang="en-US" altLang="zh-CN" dirty="0"/>
              <a:t>	</a:t>
            </a:r>
            <a:r>
              <a:rPr lang="zh-CN" altLang="en-US" dirty="0"/>
              <a:t>一般网约车费报销需包含：</a:t>
            </a:r>
            <a:endParaRPr lang="en-US" altLang="zh-CN" dirty="0"/>
          </a:p>
          <a:p>
            <a:pPr algn="l"/>
            <a:r>
              <a:rPr lang="en-US" altLang="zh-CN" dirty="0"/>
              <a:t>		</a:t>
            </a:r>
            <a:r>
              <a:rPr lang="zh-CN" altLang="en-US" dirty="0"/>
              <a:t>发票、</a:t>
            </a:r>
            <a:r>
              <a:rPr lang="zh-CN" altLang="en-US" dirty="0">
                <a:solidFill>
                  <a:srgbClr val="FF0000"/>
                </a:solidFill>
              </a:rPr>
              <a:t>行程单</a:t>
            </a:r>
            <a:r>
              <a:rPr lang="zh-CN" altLang="en-US" dirty="0"/>
              <a:t>（显示起止地点）、备注乘车人</a:t>
            </a:r>
            <a:endParaRPr lang="en-US" altLang="zh-CN" dirty="0"/>
          </a:p>
          <a:p>
            <a:pPr algn="l"/>
            <a:r>
              <a:rPr lang="en-US" altLang="zh-CN" dirty="0"/>
              <a:t>		</a:t>
            </a:r>
            <a:r>
              <a:rPr lang="zh-CN" altLang="en-US" dirty="0"/>
              <a:t>支付截图（显示实付款，根据实付款报销）</a:t>
            </a:r>
            <a:endParaRPr lang="en-US" altLang="zh-CN" dirty="0"/>
          </a:p>
          <a:p>
            <a:pPr algn="l"/>
            <a:r>
              <a:rPr lang="en-US" altLang="zh-CN" dirty="0"/>
              <a:t>             </a:t>
            </a:r>
            <a:r>
              <a:rPr lang="zh-CN" altLang="en-US" dirty="0"/>
              <a:t>出租车费报销需包含：（</a:t>
            </a:r>
            <a:r>
              <a:rPr lang="zh-CN" altLang="en-US" dirty="0">
                <a:solidFill>
                  <a:srgbClr val="0070C0"/>
                </a:solidFill>
              </a:rPr>
              <a:t>建议打网约车，在报销材料上会方便很多</a:t>
            </a:r>
            <a:r>
              <a:rPr lang="zh-CN" altLang="en-US" dirty="0"/>
              <a:t>）</a:t>
            </a:r>
            <a:endParaRPr lang="en-US" altLang="zh-CN" dirty="0"/>
          </a:p>
          <a:p>
            <a:pPr algn="l"/>
            <a:r>
              <a:rPr lang="en-US" altLang="zh-CN" dirty="0"/>
              <a:t>                           </a:t>
            </a:r>
            <a:r>
              <a:rPr lang="zh-CN" altLang="en-US" dirty="0"/>
              <a:t>发票（备注乘车人、乘车事由、起止地点）</a:t>
            </a:r>
            <a:endParaRPr lang="en-US" altLang="zh-CN" dirty="0"/>
          </a:p>
          <a:p>
            <a:pPr algn="l"/>
            <a:r>
              <a:rPr lang="en-US" altLang="zh-CN" dirty="0"/>
              <a:t>             </a:t>
            </a:r>
            <a:r>
              <a:rPr lang="zh-CN" altLang="en-US" dirty="0"/>
              <a:t>对应活动的车费发票需与此活动相关，</a:t>
            </a:r>
            <a:r>
              <a:rPr lang="zh-CN" altLang="en-US" dirty="0">
                <a:solidFill>
                  <a:srgbClr val="FF0000"/>
                </a:solidFill>
              </a:rPr>
              <a:t>反例：活动</a:t>
            </a:r>
            <a:r>
              <a:rPr lang="en-US" altLang="zh-CN" dirty="0">
                <a:solidFill>
                  <a:srgbClr val="FF0000"/>
                </a:solidFill>
              </a:rPr>
              <a:t>9</a:t>
            </a:r>
            <a:r>
              <a:rPr lang="zh-CN" altLang="en-US" dirty="0">
                <a:solidFill>
                  <a:srgbClr val="FF0000"/>
                </a:solidFill>
              </a:rPr>
              <a:t>月份彻底结束，车费为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  <a:r>
              <a:rPr lang="zh-CN" altLang="en-US" dirty="0">
                <a:solidFill>
                  <a:srgbClr val="FF0000"/>
                </a:solidFill>
              </a:rPr>
              <a:t>月份支出；起止地点与活动完全不相关。</a:t>
            </a:r>
            <a:endParaRPr lang="en-US" altLang="zh-CN" dirty="0"/>
          </a:p>
          <a:p>
            <a:pPr algn="l"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zh-CN" altLang="en-US" dirty="0"/>
              <a:t>差旅费详见：</a:t>
            </a:r>
            <a:r>
              <a:rPr lang="en-US" altLang="zh-CN" b="1" dirty="0"/>
              <a:t>《</a:t>
            </a:r>
            <a:r>
              <a:rPr lang="zh-CN" altLang="en-US" b="1" dirty="0">
                <a:hlinkClick r:id="rId2"/>
              </a:rPr>
              <a:t>中国科学技术大学差旅费管理办法</a:t>
            </a:r>
            <a:r>
              <a:rPr lang="en-US" altLang="zh-CN" b="1" dirty="0"/>
              <a:t>》</a:t>
            </a:r>
            <a:endParaRPr lang="en-US" altLang="zh-CN" b="1" dirty="0"/>
          </a:p>
          <a:p>
            <a:pPr algn="l">
              <a:lnSpc>
                <a:spcPts val="2640"/>
              </a:lnSpc>
            </a:pPr>
            <a:endParaRPr lang="zh-CN" altLang="en-US" sz="2200" dirty="0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1067856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报销材料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1134745" y="1893570"/>
            <a:ext cx="10086340" cy="1867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2600" b="1" dirty="0">
                <a:latin typeface="+mn-ea"/>
              </a:rPr>
              <a:t>5. </a:t>
            </a:r>
            <a:r>
              <a:rPr lang="zh-CN" altLang="en-US" sz="2600" b="1" dirty="0">
                <a:latin typeface="+mn-ea"/>
              </a:rPr>
              <a:t>打车费</a:t>
            </a:r>
            <a:r>
              <a:rPr lang="en-US" altLang="zh-CN" sz="2600" b="1" dirty="0">
                <a:latin typeface="+mn-ea"/>
              </a:rPr>
              <a:t>/</a:t>
            </a:r>
            <a:r>
              <a:rPr lang="zh-CN" altLang="en-US" sz="2600" b="1" dirty="0">
                <a:latin typeface="+mn-ea"/>
              </a:rPr>
              <a:t>差旅费</a:t>
            </a:r>
            <a:endParaRPr lang="en-US" altLang="zh-CN" sz="2600" b="1" dirty="0">
              <a:latin typeface="+mn-ea"/>
            </a:endParaRPr>
          </a:p>
          <a:p>
            <a:pPr algn="l"/>
            <a:r>
              <a:rPr lang="zh-CN" altLang="en-US" sz="2000" dirty="0"/>
              <a:t>高铁票：从</a:t>
            </a:r>
            <a:r>
              <a:rPr lang="en-US" altLang="zh-CN" sz="2000" dirty="0"/>
              <a:t>12306</a:t>
            </a:r>
            <a:r>
              <a:rPr lang="zh-CN" altLang="en-US" sz="2000" dirty="0"/>
              <a:t>开电子发票，建议不要线下取纸质票（存在遗失风险）。</a:t>
            </a:r>
            <a:endParaRPr lang="zh-CN" altLang="en-US" sz="2000" dirty="0"/>
          </a:p>
          <a:p>
            <a:pPr algn="l"/>
            <a:r>
              <a:rPr lang="zh-CN" altLang="en-US" sz="2000" dirty="0"/>
              <a:t>高铁票易出现税号错误，请注意检查。</a:t>
            </a:r>
            <a:endParaRPr lang="zh-CN" altLang="en-US" sz="2000" dirty="0"/>
          </a:p>
          <a:p>
            <a:pPr algn="l"/>
            <a:endParaRPr lang="zh-CN" altLang="en-US" sz="2000" dirty="0"/>
          </a:p>
          <a:p>
            <a:pPr algn="l">
              <a:lnSpc>
                <a:spcPts val="2640"/>
              </a:lnSpc>
            </a:pP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4745" y="3566795"/>
            <a:ext cx="10457815" cy="261683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p>
            <a:pPr indent="0" algn="l" fontAlgn="auto">
              <a:lnSpc>
                <a:spcPct val="150000"/>
              </a:lnSpc>
            </a:pPr>
            <a:r>
              <a:rPr lang="zh-CN" altLang="en-US" sz="2000" dirty="0">
                <a:sym typeface="+mn-ea"/>
              </a:rPr>
              <a:t>租车</a:t>
            </a:r>
            <a:r>
              <a:rPr lang="en-US" altLang="zh-CN" sz="2000" dirty="0">
                <a:sym typeface="+mn-ea"/>
              </a:rPr>
              <a:t>/</a:t>
            </a:r>
            <a:r>
              <a:rPr lang="zh-CN" altLang="en-US" sz="2000" dirty="0">
                <a:sym typeface="+mn-ea"/>
              </a:rPr>
              <a:t>包车：</a:t>
            </a:r>
            <a:endParaRPr lang="zh-CN" altLang="en-US" sz="2000" dirty="0"/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dirty="0">
                <a:sym typeface="+mn-ea"/>
              </a:rPr>
              <a:t>①一般需要从校内平台租车，否则需要说明没有从校内平台租车的原因以及租车必要性，签姓名学号。</a:t>
            </a:r>
            <a:endParaRPr lang="zh-CN" altLang="en-US" sz="2000" dirty="0"/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dirty="0">
                <a:sym typeface="+mn-ea"/>
              </a:rPr>
              <a:t>②需提交租车清单：一般从校内平台租车时，公司会提供清单。如公司不提供清单，可以参照以下表格形式整理，请公司盖章。</a:t>
            </a:r>
            <a:endParaRPr lang="zh-CN" altLang="en-US" sz="2000" dirty="0"/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dirty="0">
                <a:sym typeface="+mn-ea"/>
              </a:rPr>
              <a:t>③需提交用车人员名单。</a:t>
            </a:r>
            <a:endParaRPr lang="zh-CN" altLang="en-US" sz="2000" b="1" dirty="0">
              <a:latin typeface="+mn-ea"/>
              <a:sym typeface="+mn-ea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5998527" y="5513070"/>
          <a:ext cx="5409565" cy="0"/>
        </p:xfrm>
        <a:graphic>
          <a:graphicData uri="http://schemas.openxmlformats.org/drawingml/2006/table">
            <a:tbl>
              <a:tblPr/>
              <a:tblGrid>
                <a:gridCol w="772795"/>
                <a:gridCol w="772795"/>
                <a:gridCol w="772795"/>
                <a:gridCol w="772795"/>
                <a:gridCol w="772795"/>
                <a:gridCol w="772795"/>
                <a:gridCol w="772795"/>
              </a:tblGrid>
              <a:tr h="0"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时间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行程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车型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车牌号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收费标准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金额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第一程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第二程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……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1218351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报销材料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1490293" y="2140810"/>
            <a:ext cx="10086513" cy="46155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2600" b="1" dirty="0">
                <a:latin typeface="+mn-ea"/>
              </a:rPr>
              <a:t>6. </a:t>
            </a:r>
            <a:r>
              <a:rPr lang="zh-CN" altLang="en-US" sz="2600" b="1" dirty="0">
                <a:latin typeface="+mn-ea"/>
              </a:rPr>
              <a:t>食堂餐饮费用</a:t>
            </a:r>
            <a:endParaRPr lang="en-US" altLang="zh-CN" sz="2600" b="1" dirty="0">
              <a:latin typeface="+mn-ea"/>
            </a:endParaRPr>
          </a:p>
          <a:p>
            <a:pPr algn="l"/>
            <a:r>
              <a:rPr lang="en-US" altLang="zh-CN" dirty="0"/>
              <a:t>	</a:t>
            </a:r>
            <a:r>
              <a:rPr lang="zh-CN" altLang="en-US" dirty="0"/>
              <a:t>活动餐饮费用报销需包含：</a:t>
            </a:r>
            <a:endParaRPr lang="en-US" altLang="zh-CN" dirty="0"/>
          </a:p>
          <a:p>
            <a:pPr algn="l"/>
            <a:r>
              <a:rPr lang="en-US" altLang="zh-CN" dirty="0"/>
              <a:t>		</a:t>
            </a:r>
            <a:r>
              <a:rPr lang="zh-CN" altLang="en-US" dirty="0"/>
              <a:t>食堂收据、</a:t>
            </a:r>
            <a:r>
              <a:rPr lang="zh-CN" altLang="en-US" dirty="0">
                <a:solidFill>
                  <a:srgbClr val="FF0000"/>
                </a:solidFill>
              </a:rPr>
              <a:t>清单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r>
              <a:rPr lang="en-US" altLang="zh-CN" dirty="0"/>
              <a:t>		</a:t>
            </a:r>
            <a:r>
              <a:rPr lang="zh-CN" altLang="en-US" dirty="0"/>
              <a:t>清单包含：工作餐事由、时间、用餐人数。</a:t>
            </a:r>
            <a:endParaRPr lang="en-US" altLang="zh-CN" dirty="0"/>
          </a:p>
          <a:p>
            <a:pPr algn="l"/>
            <a:r>
              <a:rPr lang="en-US" altLang="zh-CN" dirty="0"/>
              <a:t>	</a:t>
            </a:r>
            <a:r>
              <a:rPr lang="zh-CN" altLang="en-US" dirty="0"/>
              <a:t>并备注是否已由学生垫付。</a:t>
            </a:r>
            <a:endParaRPr lang="en-US" altLang="zh-CN" dirty="0"/>
          </a:p>
          <a:p>
            <a:pPr algn="l"/>
            <a:r>
              <a:rPr lang="en-US" altLang="zh-CN" dirty="0"/>
              <a:t>	</a:t>
            </a:r>
            <a:r>
              <a:rPr lang="zh-CN" altLang="en-US" dirty="0"/>
              <a:t>学生活动所涉及到的餐费只允许购买食堂用餐，申报此类活动前，需向老师提前申请并说明理由。</a:t>
            </a:r>
            <a:endParaRPr lang="zh-CN" altLang="en-US" sz="2200" dirty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1218351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报销材料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1490293" y="2110330"/>
            <a:ext cx="10086513" cy="46155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2600" b="1" dirty="0">
                <a:latin typeface="+mn-ea"/>
              </a:rPr>
              <a:t>7. </a:t>
            </a:r>
            <a:r>
              <a:rPr lang="zh-CN" altLang="en-US" sz="2600" b="1" dirty="0">
                <a:latin typeface="+mn-ea"/>
              </a:rPr>
              <a:t>明白纸</a:t>
            </a:r>
            <a:endParaRPr lang="zh-CN" altLang="en-US" sz="26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个人收款</a:t>
            </a:r>
            <a:r>
              <a:rPr lang="en-US" altLang="zh-CN" sz="2000" dirty="0">
                <a:latin typeface="+mn-ea"/>
              </a:rPr>
              <a:t>or</a:t>
            </a:r>
            <a:r>
              <a:rPr lang="zh-CN" altLang="en-US" sz="2000" dirty="0">
                <a:latin typeface="+mn-ea"/>
              </a:rPr>
              <a:t>对公转账</a:t>
            </a:r>
            <a:r>
              <a:rPr lang="en-US" altLang="zh-CN" sz="2000" dirty="0">
                <a:latin typeface="+mn-ea"/>
              </a:rPr>
              <a:t>?</a:t>
            </a:r>
            <a:endParaRPr lang="en-US" altLang="zh-CN" sz="2000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个人收款：</a:t>
            </a:r>
            <a:r>
              <a:rPr lang="zh-CN" altLang="en-US" sz="2000" dirty="0">
                <a:latin typeface="+mn-ea"/>
                <a:sym typeface="+mn-ea"/>
              </a:rPr>
              <a:t>由个人先行垫付金额，学校报销后会把钱转给个人。</a:t>
            </a:r>
            <a:endParaRPr lang="zh-CN" altLang="en-US" sz="2000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对公转账：个人不支付金额，由学校报销后直接将钱转给公司指定账户（需要信息：户名、银行账号、开户行）。</a:t>
            </a:r>
            <a:endParaRPr lang="en-US" altLang="zh-CN" sz="2000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常见对公转账情况：食堂工作餐、校内平台租车、大额支出等。</a:t>
            </a:r>
            <a:endParaRPr lang="zh-CN" altLang="en-US" sz="2000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在同一商家消费超过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2000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元应采取对公转账方式，此时如未对公转账，需写说明并签字。</a:t>
            </a:r>
            <a:endParaRPr lang="zh-CN" altLang="en-US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dirty="0"/>
              <a:t>	</a:t>
            </a:r>
            <a:endParaRPr lang="zh-CN" altLang="en-US" sz="2200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827" y="2318610"/>
            <a:ext cx="2807577" cy="4118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570" y="531495"/>
            <a:ext cx="4672330" cy="24517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687955" y="788456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报销材料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1456690" y="1672590"/>
            <a:ext cx="6097270" cy="499999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2800" b="1" dirty="0">
                <a:highlight>
                  <a:srgbClr val="FFFF00"/>
                </a:highlight>
                <a:latin typeface="+mn-ea"/>
                <a:cs typeface="+mn-ea"/>
              </a:rPr>
              <a:t>纸质材料</a:t>
            </a:r>
            <a:r>
              <a:rPr lang="zh-CN" altLang="en-US" sz="2800" b="1" dirty="0">
                <a:latin typeface="+mn-ea"/>
                <a:cs typeface="+mn-ea"/>
              </a:rPr>
              <a:t>按顺序整理，从上往下依次为：</a:t>
            </a:r>
            <a:endParaRPr lang="en-US" altLang="zh-CN" sz="2800" b="1" dirty="0"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	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明白纸</a:t>
            </a:r>
            <a:endParaRPr lang="en-US" altLang="zh-CN" sz="28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	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二课审批单</a:t>
            </a: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/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团学</a:t>
            </a:r>
            <a:r>
              <a:rPr lang="zh-CN" altLang="en-US" sz="2800" b="1" dirty="0">
                <a:latin typeface="+mn-ea"/>
                <a:cs typeface="+mn-ea"/>
              </a:rPr>
              <a:t>活动审批表</a:t>
            </a:r>
            <a:endParaRPr lang="zh-CN" altLang="en-US" sz="2800" b="1" dirty="0">
              <a:latin typeface="+mn-ea"/>
              <a:cs typeface="+mn-ea"/>
            </a:endParaRPr>
          </a:p>
          <a:p>
            <a:pPr marL="457200" lvl="1" indent="457200" algn="l">
              <a:lnSpc>
                <a:spcPct val="150000"/>
              </a:lnSpc>
            </a:pPr>
            <a:r>
              <a:rPr lang="zh-CN" altLang="en-US" sz="2800" b="1" dirty="0">
                <a:latin typeface="+mn-ea"/>
                <a:cs typeface="+mn-ea"/>
              </a:rPr>
              <a:t>说明材料（也可以分成几个附在对应发票后）</a:t>
            </a:r>
            <a:endParaRPr lang="en-US" altLang="zh-CN" sz="2800" b="1" dirty="0"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	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发票</a:t>
            </a: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1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，对应清单、截图</a:t>
            </a:r>
            <a:endParaRPr lang="en-US" altLang="zh-CN" sz="28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	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发票</a:t>
            </a: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2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，对应清单、截图</a:t>
            </a:r>
            <a:endParaRPr lang="en-US" altLang="zh-CN" sz="28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	……</a:t>
            </a:r>
            <a:endParaRPr lang="en-US" altLang="zh-CN" sz="28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</a:endParaRPr>
          </a:p>
          <a:p>
            <a:pPr marL="457200" lvl="1" indent="457200"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  <a:sym typeface="+mn-ea"/>
              </a:rPr>
              <a:t>签领表（</a:t>
            </a:r>
            <a:r>
              <a:rPr lang="zh-CN" altLang="en-US" sz="2800" b="1" dirty="0">
                <a:latin typeface="+mn-ea"/>
                <a:cs typeface="+mn-ea"/>
                <a:sym typeface="+mn-ea"/>
              </a:rPr>
              <a:t>也可以分成几个附在对应发票后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）</a:t>
            </a:r>
            <a:endParaRPr lang="en-US" altLang="zh-CN" sz="28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	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新闻稿</a:t>
            </a:r>
            <a:endParaRPr lang="en-US" altLang="zh-CN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687955" y="788456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报销材料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1510030" y="1672590"/>
            <a:ext cx="8695055" cy="4999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n-ea"/>
                <a:cs typeface="+mn-ea"/>
              </a:rPr>
              <a:t>8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n-ea"/>
                <a:cs typeface="+mn-ea"/>
              </a:rPr>
              <a:t>、电子版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n-ea"/>
                <a:cs typeface="+mn-ea"/>
              </a:rPr>
              <a:t>材料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一般只需要发票类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材料的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电子版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①电子发票的情况，请提供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  <a:sym typeface="+mn-ea"/>
              </a:rPr>
              <a:t>pdf/ofd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原件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②纸质发票的情况，请提供纸质原件，并拍照形成电子版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③请按以下格式整理：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每张发票命名为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用途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+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金额（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+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实际报销金额）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”</a:t>
            </a:r>
            <a:endParaRPr lang="en-US" altLang="zh-CN" sz="20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所有发票打包成一个压缩文件，命名为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社团名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+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活动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”</a:t>
            </a:r>
            <a:endParaRPr lang="en-US" altLang="zh-CN" sz="20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425" y="4890770"/>
            <a:ext cx="1150620" cy="13792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6350" y="4890770"/>
            <a:ext cx="2971800" cy="9982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877991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劳务报销材料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563245" y="1837055"/>
            <a:ext cx="11334750" cy="4615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457200" algn="l">
              <a:lnSpc>
                <a:spcPct val="150000"/>
              </a:lnSpc>
            </a:pPr>
            <a:r>
              <a:rPr lang="zh-CN" altLang="en-US" sz="2600" b="1" dirty="0">
                <a:latin typeface="+mn-ea"/>
              </a:rPr>
              <a:t>注：劳务单独报销，包含劳务费用的活动请额外提供一份材料                </a:t>
            </a:r>
            <a:endParaRPr lang="en-US" altLang="zh-CN" sz="26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zh-CN" altLang="en-US" dirty="0"/>
              <a:t>劳务报销材料：明白纸</a:t>
            </a:r>
            <a:r>
              <a:rPr lang="en-US" altLang="zh-CN" dirty="0"/>
              <a:t>+</a:t>
            </a:r>
            <a:r>
              <a:rPr lang="zh-CN" altLang="en-US" dirty="0"/>
              <a:t>审批表</a:t>
            </a:r>
            <a:r>
              <a:rPr lang="en-US" altLang="zh-CN" dirty="0"/>
              <a:t>+</a:t>
            </a:r>
            <a:r>
              <a:rPr lang="zh-CN" altLang="en-US" dirty="0"/>
              <a:t>领款单（</a:t>
            </a:r>
            <a:r>
              <a:rPr lang="en-US" altLang="zh-CN" dirty="0"/>
              <a:t>+</a:t>
            </a:r>
            <a:r>
              <a:rPr lang="zh-CN" altLang="en-US" dirty="0"/>
              <a:t>授课</a:t>
            </a:r>
            <a:r>
              <a:rPr lang="zh-CN" altLang="en-US" dirty="0"/>
              <a:t>签到表）（</a:t>
            </a:r>
            <a:r>
              <a:rPr lang="en-US" altLang="zh-CN" dirty="0"/>
              <a:t>+</a:t>
            </a:r>
            <a:r>
              <a:rPr lang="zh-CN" altLang="en-US" dirty="0"/>
              <a:t>新闻稿）。</a:t>
            </a:r>
            <a:endParaRPr lang="en-US" altLang="zh-CN" dirty="0"/>
          </a:p>
          <a:p>
            <a:pPr algn="l"/>
            <a:r>
              <a:rPr lang="en-US" altLang="zh-CN" dirty="0"/>
              <a:t>	</a:t>
            </a:r>
            <a:r>
              <a:rPr lang="zh-CN" altLang="en-US" dirty="0"/>
              <a:t>一般类型：裁判费、</a:t>
            </a:r>
            <a:r>
              <a:rPr lang="zh-CN" altLang="en-US" dirty="0"/>
              <a:t>主持费</a:t>
            </a:r>
            <a:r>
              <a:rPr lang="zh-CN" altLang="en-US" dirty="0"/>
              <a:t>等，其他费用（比如外聘老师）请提前咨询。</a:t>
            </a:r>
            <a:endParaRPr lang="en-US" altLang="zh-CN" dirty="0"/>
          </a:p>
          <a:p>
            <a:pPr algn="l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需要有明细清单：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zh-CN" altLang="en-US" dirty="0"/>
              <a:t>领款人、项目、单价、场次、时长</a:t>
            </a:r>
            <a:endParaRPr lang="en-US" altLang="zh-CN" dirty="0">
              <a:highlight>
                <a:srgbClr val="FFFF00"/>
              </a:highlight>
            </a:endParaRPr>
          </a:p>
          <a:p>
            <a:pPr algn="l"/>
            <a:r>
              <a:rPr lang="en-US" altLang="zh-CN" dirty="0"/>
              <a:t>              </a:t>
            </a:r>
            <a:endParaRPr lang="en-US" altLang="zh-CN" dirty="0"/>
          </a:p>
          <a:p>
            <a:pPr marL="457200" lvl="1" indent="457200" algn="l"/>
            <a:r>
              <a:rPr lang="zh-CN" altLang="en-US" dirty="0">
                <a:solidFill>
                  <a:srgbClr val="FF0000"/>
                </a:solidFill>
              </a:rPr>
              <a:t>劳务费不可代领，请明确到个人。</a:t>
            </a:r>
            <a:endParaRPr lang="zh-CN" altLang="en-US" dirty="0">
              <a:solidFill>
                <a:srgbClr val="FF0000"/>
              </a:solidFill>
            </a:endParaRPr>
          </a:p>
          <a:p>
            <a:pPr marL="457200" lvl="1" indent="457200" algn="l"/>
            <a:r>
              <a:rPr lang="zh-CN" altLang="en-US" dirty="0">
                <a:solidFill>
                  <a:srgbClr val="FF0000"/>
                </a:solidFill>
              </a:rPr>
              <a:t>多于</a:t>
            </a:r>
            <a:r>
              <a:rPr lang="en-US" altLang="zh-CN" dirty="0">
                <a:solidFill>
                  <a:srgbClr val="FF0000"/>
                </a:solidFill>
              </a:rPr>
              <a:t>800</a:t>
            </a:r>
            <a:r>
              <a:rPr lang="zh-CN" altLang="en-US" dirty="0">
                <a:solidFill>
                  <a:srgbClr val="FF0000"/>
                </a:solidFill>
              </a:rPr>
              <a:t>元的劳务费会扣除税额，</a:t>
            </a:r>
            <a:endParaRPr lang="zh-CN" altLang="en-US" dirty="0">
              <a:solidFill>
                <a:srgbClr val="FF0000"/>
              </a:solidFill>
            </a:endParaRPr>
          </a:p>
          <a:p>
            <a:pPr marL="457200" lvl="1" indent="457200" algn="l"/>
            <a:r>
              <a:rPr lang="zh-CN" altLang="en-US" dirty="0">
                <a:solidFill>
                  <a:srgbClr val="FF0000"/>
                </a:solidFill>
              </a:rPr>
              <a:t>具体参考国家规定的劳务费税率。</a:t>
            </a:r>
            <a:endParaRPr lang="en-US" altLang="zh-CN" dirty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zh-CN" dirty="0"/>
          </a:p>
          <a:p>
            <a:pPr algn="l">
              <a:lnSpc>
                <a:spcPct val="150000"/>
              </a:lnSpc>
            </a:pPr>
            <a:r>
              <a:rPr lang="en-US" altLang="zh-CN" dirty="0"/>
              <a:t>	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947" y="1283595"/>
            <a:ext cx="2000286" cy="42062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48805" y="4025900"/>
            <a:ext cx="4423410" cy="23469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1218351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会员报销材料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1490293" y="2140810"/>
            <a:ext cx="10086513" cy="46155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2600" b="1" dirty="0">
                <a:latin typeface="+mn-ea"/>
              </a:rPr>
              <a:t>	</a:t>
            </a:r>
            <a:r>
              <a:rPr lang="zh-CN" altLang="en-US" dirty="0"/>
              <a:t>报销材料：明白纸</a:t>
            </a:r>
            <a:r>
              <a:rPr lang="en-US" altLang="zh-CN" dirty="0"/>
              <a:t>+</a:t>
            </a:r>
            <a:r>
              <a:rPr lang="zh-CN" altLang="en-US" dirty="0"/>
              <a:t>团学活动审批表</a:t>
            </a:r>
            <a:r>
              <a:rPr lang="en-US" altLang="zh-CN" dirty="0"/>
              <a:t>+</a:t>
            </a:r>
            <a:r>
              <a:rPr lang="zh-CN" altLang="en-US" dirty="0"/>
              <a:t>充值记录</a:t>
            </a:r>
            <a:r>
              <a:rPr lang="en-US" altLang="zh-CN" dirty="0"/>
              <a:t>+</a:t>
            </a:r>
            <a:r>
              <a:rPr lang="zh-CN" altLang="en-US" dirty="0"/>
              <a:t>发票。</a:t>
            </a:r>
            <a:endParaRPr lang="en-US" altLang="zh-CN" dirty="0"/>
          </a:p>
          <a:p>
            <a:pPr algn="l"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zh-CN" altLang="en-US" dirty="0"/>
              <a:t>充值记录和发票均在腾讯充值公众号中获取，具体见文档：</a:t>
            </a:r>
            <a:endParaRPr lang="en-US" altLang="zh-CN" dirty="0"/>
          </a:p>
          <a:p>
            <a:pPr algn="l">
              <a:lnSpc>
                <a:spcPct val="150000"/>
              </a:lnSpc>
            </a:pPr>
            <a:r>
              <a:rPr lang="en-US" altLang="zh-CN" dirty="0"/>
              <a:t>	</a:t>
            </a:r>
            <a:endParaRPr lang="en-US" altLang="zh-CN" dirty="0"/>
          </a:p>
          <a:p>
            <a:pPr marL="457200" lvl="1" indent="457200" algn="l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注意：请勿使用苹果支付，苹果支付不支持提供发票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036" y="3514716"/>
            <a:ext cx="3711268" cy="506951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2282155" y="1858478"/>
            <a:ext cx="2943013" cy="37811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3349563" y="5775798"/>
            <a:ext cx="64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请财务负责人加</a:t>
            </a:r>
            <a:r>
              <a:rPr lang="en-US" altLang="zh-CN" sz="2400" b="1" dirty="0">
                <a:solidFill>
                  <a:srgbClr val="FF0000"/>
                </a:solidFill>
              </a:rPr>
              <a:t>QQ</a:t>
            </a:r>
            <a:r>
              <a:rPr lang="zh-CN" altLang="en-US" sz="2400" b="1" dirty="0">
                <a:solidFill>
                  <a:srgbClr val="FF0000"/>
                </a:solidFill>
              </a:rPr>
              <a:t>群：</a:t>
            </a:r>
            <a:r>
              <a:rPr lang="en-US" altLang="zh-CN" sz="2400" b="1" dirty="0">
                <a:solidFill>
                  <a:srgbClr val="FF0000"/>
                </a:solidFill>
              </a:rPr>
              <a:t>650755950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zh-CN" altLang="en-US" sz="2400" b="1" dirty="0">
                <a:solidFill>
                  <a:srgbClr val="FF0000"/>
                </a:solidFill>
              </a:rPr>
              <a:t>所有报销相关的通知会在报销负责人群里发布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46709" y="859539"/>
            <a:ext cx="3698582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报销时间及地点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69645" y="1987813"/>
            <a:ext cx="216824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b="1" spc="-15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学校本部</a:t>
            </a:r>
            <a:endParaRPr lang="zh-CN" altLang="en-US" sz="2400" b="1" spc="-15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69537" y="2833766"/>
            <a:ext cx="2371186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 </a:t>
            </a:r>
            <a:r>
              <a:rPr lang="en-US" altLang="zh-CN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周三 下午</a:t>
            </a:r>
            <a:br>
              <a:rPr lang="en-US" altLang="zh-CN" sz="1100" dirty="0">
                <a:solidFill>
                  <a:schemeClr val="bg1"/>
                </a:solidFill>
              </a:rPr>
            </a:br>
            <a:r>
              <a:rPr lang="en-US" altLang="zh-CN" sz="1100" dirty="0">
                <a:solidFill>
                  <a:schemeClr val="bg1"/>
                </a:solidFill>
              </a:rPr>
              <a:t>                    </a:t>
            </a:r>
            <a:r>
              <a:rPr lang="en-US" altLang="zh-CN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16:00-17:00</a:t>
            </a:r>
            <a:endParaRPr lang="en-US" altLang="zh-CN" sz="2000" b="1" spc="-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地点 </a:t>
            </a:r>
            <a:r>
              <a:rPr lang="en-US" altLang="zh-CN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东区大礼堂</a:t>
            </a:r>
            <a:endParaRPr lang="en-US" altLang="zh-CN" sz="2000" b="1" spc="-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北侧 </a:t>
            </a:r>
            <a:r>
              <a:rPr lang="en-US" altLang="zh-CN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 </a:t>
            </a:r>
            <a:r>
              <a:rPr lang="zh-CN" altLang="en-US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办公室</a:t>
            </a:r>
            <a:endParaRPr lang="zh-CN" altLang="en-US" sz="2000" b="1" spc="-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6966832" y="1858478"/>
            <a:ext cx="2943013" cy="37811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7338846" y="1987813"/>
            <a:ext cx="216824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b="1" spc="-15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高新校区</a:t>
            </a:r>
            <a:endParaRPr lang="zh-CN" altLang="en-US" sz="2400" b="1" spc="-15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54214" y="2833766"/>
            <a:ext cx="2371186" cy="1884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 </a:t>
            </a:r>
            <a:r>
              <a:rPr lang="en-US" altLang="zh-CN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周日 下午  </a:t>
            </a:r>
            <a:br>
              <a:rPr lang="en-US" altLang="zh-CN" sz="1100" dirty="0">
                <a:solidFill>
                  <a:schemeClr val="bg1"/>
                </a:solidFill>
              </a:rPr>
            </a:br>
            <a:r>
              <a:rPr lang="en-US" altLang="zh-CN" sz="1100" dirty="0">
                <a:solidFill>
                  <a:schemeClr val="bg1"/>
                </a:solidFill>
              </a:rPr>
              <a:t>                    </a:t>
            </a:r>
            <a:r>
              <a:rPr lang="en-US" altLang="zh-CN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14:30-15:30</a:t>
            </a:r>
            <a:endParaRPr lang="en-US" altLang="zh-CN" sz="2000" b="1" spc="-1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地点 </a:t>
            </a:r>
            <a:r>
              <a:rPr lang="en-US" altLang="zh-CN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师生活动中心</a:t>
            </a:r>
            <a:r>
              <a:rPr lang="en-US" altLang="zh-CN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310 </a:t>
            </a:r>
            <a:r>
              <a:rPr lang="zh-CN" altLang="en-US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办公室</a:t>
            </a:r>
            <a:r>
              <a:rPr lang="en-US" altLang="zh-CN" sz="2000" b="1" spc="-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(GH-310)</a:t>
            </a:r>
            <a:endParaRPr lang="zh-CN" altLang="en-US" sz="2000" b="1" spc="-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1218351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报销流程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1096593" y="2140810"/>
            <a:ext cx="10086513" cy="46155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/>
              <a:t>①  现场</a:t>
            </a:r>
            <a:r>
              <a:rPr lang="en-US" altLang="zh-CN" dirty="0"/>
              <a:t>/</a:t>
            </a:r>
            <a:r>
              <a:rPr lang="zh-CN" altLang="en-US" dirty="0"/>
              <a:t>提前填写</a:t>
            </a:r>
            <a:r>
              <a:rPr lang="en-US" altLang="zh-CN" dirty="0"/>
              <a:t>QQ</a:t>
            </a:r>
            <a:r>
              <a:rPr lang="zh-CN" altLang="en-US" dirty="0"/>
              <a:t>群精华消息中的腾讯文档</a:t>
            </a:r>
            <a:endParaRPr lang="en-US" altLang="zh-CN" dirty="0"/>
          </a:p>
          <a:p>
            <a:pPr marL="457200" indent="-457200">
              <a:lnSpc>
                <a:spcPct val="150000"/>
              </a:lnSpc>
              <a:buAutoNum type="circleNumDbPlain" startAt="2"/>
            </a:pPr>
            <a:r>
              <a:rPr lang="zh-CN" altLang="en-US" dirty="0"/>
              <a:t>现场提交</a:t>
            </a:r>
            <a:r>
              <a:rPr lang="zh-CN" altLang="en-US" dirty="0">
                <a:solidFill>
                  <a:srgbClr val="FF0000"/>
                </a:solidFill>
              </a:rPr>
              <a:t>纸质材料，并提交电子版发票</a:t>
            </a:r>
            <a:endParaRPr lang="en-US" altLang="zh-CN" dirty="0"/>
          </a:p>
          <a:p>
            <a:pPr marL="457200" indent="-457200">
              <a:lnSpc>
                <a:spcPct val="150000"/>
              </a:lnSpc>
              <a:buAutoNum type="circleNumDbPlain" startAt="3"/>
            </a:pPr>
            <a:r>
              <a:rPr lang="zh-CN" altLang="en-US" dirty="0"/>
              <a:t>财务部同学提交材料给管指委老师制单</a:t>
            </a:r>
            <a:endParaRPr lang="en-US" altLang="zh-CN" dirty="0"/>
          </a:p>
          <a:p>
            <a:pPr marL="457200" indent="-457200">
              <a:lnSpc>
                <a:spcPct val="150000"/>
              </a:lnSpc>
              <a:buAutoNum type="circleNumDbPlain" startAt="3"/>
            </a:pPr>
            <a:r>
              <a:rPr lang="zh-CN" altLang="en-US" dirty="0"/>
              <a:t>负责人签字后由</a:t>
            </a:r>
            <a:r>
              <a:rPr lang="zh-CN" altLang="en-US" dirty="0">
                <a:solidFill>
                  <a:srgbClr val="FF0000"/>
                </a:solidFill>
              </a:rPr>
              <a:t>财务处（东区师生活动中心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楼财务处大厅</a:t>
            </a:r>
            <a:r>
              <a:rPr lang="en-US" altLang="zh-CN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审核</a:t>
            </a:r>
            <a:endParaRPr lang="en-US" altLang="zh-CN" dirty="0"/>
          </a:p>
          <a:p>
            <a:pPr algn="l"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zh-CN" altLang="en-US" dirty="0"/>
              <a:t>腾讯文档中会实时更新报销单据情况，若报销后三个工作周内未收到报销款，请及时查看。若被挂单，请及时前往东区学校财务处相应柜台处理。其他情况请咨询财务部同学或管指委老师。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 algn="l">
              <a:lnSpc>
                <a:spcPts val="2640"/>
              </a:lnSpc>
            </a:pPr>
            <a:endParaRPr lang="zh-CN" altLang="en-US" sz="2200" dirty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1052778" y="1783305"/>
            <a:ext cx="10086513" cy="46155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dirty="0"/>
              <a:t>1</a:t>
            </a:r>
            <a:r>
              <a:rPr lang="zh-CN" altLang="en-US" dirty="0"/>
              <a:t>、建议尽量</a:t>
            </a:r>
            <a:r>
              <a:rPr lang="zh-CN" altLang="en-US" dirty="0">
                <a:solidFill>
                  <a:srgbClr val="FF0000"/>
                </a:solidFill>
              </a:rPr>
              <a:t>避免使用纸质发票</a:t>
            </a:r>
            <a:r>
              <a:rPr lang="zh-CN" altLang="en-US" dirty="0"/>
              <a:t>，因为相较电子发票而言存在遗失风险</a:t>
            </a:r>
            <a:endParaRPr lang="zh-CN" altLang="en-US" dirty="0"/>
          </a:p>
          <a:p>
            <a:pPr algn="l"/>
            <a:r>
              <a:rPr lang="en-US" altLang="zh-CN" dirty="0"/>
              <a:t>2</a:t>
            </a:r>
            <a:r>
              <a:rPr lang="zh-CN" altLang="en-US" dirty="0"/>
              <a:t>、奖品单价不宜过高（最高奖项奖品不宜超过</a:t>
            </a:r>
            <a:r>
              <a:rPr lang="en-US" altLang="zh-CN" dirty="0"/>
              <a:t>200</a:t>
            </a:r>
            <a:r>
              <a:rPr lang="zh-CN" altLang="en-US" dirty="0"/>
              <a:t>元）。</a:t>
            </a:r>
            <a:endParaRPr lang="zh-CN" altLang="en-US" dirty="0"/>
          </a:p>
          <a:p>
            <a:pPr algn="l"/>
            <a:r>
              <a:rPr lang="en-US" altLang="zh-CN" dirty="0"/>
              <a:t>3</a:t>
            </a:r>
            <a:r>
              <a:rPr lang="zh-CN" altLang="en-US" dirty="0"/>
              <a:t>、同一公司单次活动总金额超过</a:t>
            </a:r>
            <a:r>
              <a:rPr lang="en-US" altLang="zh-CN" dirty="0"/>
              <a:t>2000</a:t>
            </a:r>
            <a:r>
              <a:rPr lang="zh-CN" altLang="en-US" dirty="0"/>
              <a:t>元需</a:t>
            </a:r>
            <a:r>
              <a:rPr lang="zh-CN" altLang="en-US" dirty="0">
                <a:solidFill>
                  <a:srgbClr val="FF0000"/>
                </a:solidFill>
              </a:rPr>
              <a:t>对公转账（</a:t>
            </a:r>
            <a:r>
              <a:rPr lang="zh-CN" altLang="en-US" dirty="0">
                <a:sym typeface="+mn-ea"/>
              </a:rPr>
              <a:t>提供公司名称，银行账户，开户行等信息，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不接受个人账户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，如果学生垫付，需要</a:t>
            </a:r>
            <a:r>
              <a:rPr lang="zh-CN" altLang="en-US" dirty="0">
                <a:solidFill>
                  <a:srgbClr val="FF0000"/>
                </a:solidFill>
              </a:rPr>
              <a:t>写说明</a:t>
            </a:r>
            <a:r>
              <a:rPr lang="zh-CN" altLang="en-US" dirty="0"/>
              <a:t>。</a:t>
            </a:r>
            <a:endParaRPr lang="zh-CN" altLang="en-US" dirty="0"/>
          </a:p>
          <a:p>
            <a:pPr algn="l"/>
            <a:r>
              <a:rPr lang="en-US" altLang="zh-CN" dirty="0"/>
              <a:t>4</a:t>
            </a:r>
            <a:r>
              <a:rPr lang="zh-CN" altLang="en-US" dirty="0"/>
              <a:t>、食物和饮料只能报销矿泉水、运动饮料</a:t>
            </a:r>
            <a:r>
              <a:rPr lang="en-US" altLang="zh-CN" dirty="0"/>
              <a:t>(</a:t>
            </a:r>
            <a:r>
              <a:rPr lang="zh-CN" altLang="en-US" dirty="0"/>
              <a:t>仅限运动类社团</a:t>
            </a:r>
            <a:r>
              <a:rPr lang="en-US" altLang="zh-CN" dirty="0"/>
              <a:t>)</a:t>
            </a:r>
            <a:r>
              <a:rPr lang="zh-CN" altLang="en-US" dirty="0"/>
              <a:t>以及学校工作餐。</a:t>
            </a:r>
            <a:r>
              <a:rPr lang="zh-CN" altLang="en-US" dirty="0"/>
              <a:t>报销运动饮料需</a:t>
            </a:r>
            <a:r>
              <a:rPr lang="zh-CN" altLang="en-US" dirty="0">
                <a:solidFill>
                  <a:srgbClr val="FF0000"/>
                </a:solidFill>
              </a:rPr>
              <a:t>说明必要性</a:t>
            </a:r>
            <a:r>
              <a:rPr lang="zh-CN" altLang="en-US" dirty="0"/>
              <a:t>。学校工作餐订购见：                        ，详询文件内各餐厅联系电话。报销学校工作餐只需收据即可，</a:t>
            </a:r>
            <a:r>
              <a:rPr lang="zh-CN" altLang="en-US" dirty="0">
                <a:solidFill>
                  <a:srgbClr val="FF0000"/>
                </a:solidFill>
              </a:rPr>
              <a:t>不需要提供发票</a:t>
            </a:r>
            <a:r>
              <a:rPr lang="zh-CN" altLang="en-US" dirty="0"/>
              <a:t>。</a:t>
            </a:r>
            <a:endParaRPr lang="en-US" altLang="zh-CN" dirty="0"/>
          </a:p>
          <a:p>
            <a:pPr algn="l"/>
            <a:r>
              <a:rPr lang="en-US" altLang="zh-CN" dirty="0"/>
              <a:t>5</a:t>
            </a:r>
            <a:r>
              <a:rPr lang="zh-CN" altLang="en-US" dirty="0"/>
              <a:t>、同一次活动所属发票请</a:t>
            </a:r>
            <a:r>
              <a:rPr lang="zh-CN" altLang="en-US" dirty="0">
                <a:solidFill>
                  <a:srgbClr val="FF0000"/>
                </a:solidFill>
              </a:rPr>
              <a:t>一并报销</a:t>
            </a:r>
            <a:r>
              <a:rPr lang="zh-CN" altLang="en-US" dirty="0"/>
              <a:t>。若有挂账发票，记得及时联系开票。</a:t>
            </a:r>
            <a:endParaRPr lang="zh-CN" altLang="en-US" dirty="0"/>
          </a:p>
          <a:p>
            <a:pPr algn="l"/>
            <a:r>
              <a:rPr lang="en-US" altLang="zh-CN" dirty="0">
                <a:solidFill>
                  <a:schemeClr val="tx1"/>
                </a:solidFill>
                <a:sym typeface="+mn-ea"/>
              </a:rPr>
              <a:t>6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、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固定资产</a:t>
            </a:r>
            <a:r>
              <a:rPr lang="zh-CN" altLang="en-US" dirty="0">
                <a:sym typeface="+mn-ea"/>
              </a:rPr>
              <a:t>：单项超过</a:t>
            </a:r>
            <a:r>
              <a:rPr lang="en-US" altLang="zh-CN" dirty="0">
                <a:sym typeface="+mn-ea"/>
              </a:rPr>
              <a:t>1000</a:t>
            </a:r>
            <a:r>
              <a:rPr lang="zh-CN" altLang="en-US" dirty="0">
                <a:sym typeface="+mn-ea"/>
              </a:rPr>
              <a:t>元的新购物品、社团长久积累下来的物品，需要做好登记和保管。</a:t>
            </a:r>
            <a:endParaRPr lang="en-US" altLang="zh-CN" dirty="0"/>
          </a:p>
          <a:p>
            <a:pPr algn="l">
              <a:lnSpc>
                <a:spcPts val="2640"/>
              </a:lnSpc>
            </a:pPr>
            <a:endParaRPr lang="zh-CN" altLang="en-US" sz="2200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468" y="3823294"/>
            <a:ext cx="1717201" cy="362986"/>
          </a:xfrm>
          <a:prstGeom prst="rect">
            <a:avLst/>
          </a:prstGeom>
        </p:spPr>
      </p:pic>
      <p:pic>
        <p:nvPicPr>
          <p:cNvPr id="307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670346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1218351"/>
            <a:ext cx="6711950" cy="8254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1510130" y="2191610"/>
            <a:ext cx="9375584" cy="4481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1096593" y="2651985"/>
            <a:ext cx="10086513" cy="46155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dirty="0"/>
              <a:t>	</a:t>
            </a:r>
            <a:r>
              <a:rPr lang="zh-CN" altLang="en-US" dirty="0"/>
              <a:t>活动经费使用请以</a:t>
            </a:r>
            <a:r>
              <a:rPr lang="en-US" altLang="zh-CN" b="1" dirty="0"/>
              <a:t>《</a:t>
            </a:r>
            <a:r>
              <a:rPr lang="zh-CN" altLang="en-US" b="1" dirty="0">
                <a:hlinkClick r:id="rId2"/>
              </a:rPr>
              <a:t>中国科学技术大学学生活动经费管理规定</a:t>
            </a:r>
            <a:r>
              <a:rPr lang="en-US" altLang="zh-CN" b="1" dirty="0"/>
              <a:t>》</a:t>
            </a:r>
            <a:r>
              <a:rPr lang="zh-CN" altLang="en-US" dirty="0"/>
              <a:t>中的内容为准。社团年审星级评定中财务有关规定请见</a:t>
            </a:r>
            <a:r>
              <a:rPr lang="en-US" altLang="zh-CN" b="1" dirty="0"/>
              <a:t>《</a:t>
            </a:r>
            <a:r>
              <a:rPr lang="zh-CN" altLang="en-US" b="1" dirty="0">
                <a:hlinkClick r:id="rId3"/>
              </a:rPr>
              <a:t>中国科学技术大学</a:t>
            </a:r>
            <a:r>
              <a:rPr lang="en-US" altLang="zh-CN" b="1" dirty="0">
                <a:hlinkClick r:id="rId3"/>
              </a:rPr>
              <a:t>2025-2026 </a:t>
            </a:r>
            <a:r>
              <a:rPr lang="zh-CN" altLang="en-US" b="1" dirty="0">
                <a:hlinkClick r:id="rId3"/>
              </a:rPr>
              <a:t>学年学生社团星级评定细则</a:t>
            </a:r>
            <a:r>
              <a:rPr lang="en-US" altLang="zh-CN" dirty="0"/>
              <a:t>》</a:t>
            </a:r>
            <a:r>
              <a:rPr lang="zh-CN" altLang="en-US" dirty="0"/>
              <a:t>。</a:t>
            </a:r>
            <a:endParaRPr lang="en-US" altLang="zh-CN" dirty="0"/>
          </a:p>
          <a:p>
            <a:pPr algn="l"/>
            <a:r>
              <a:rPr lang="en-US" altLang="zh-CN" dirty="0"/>
              <a:t>	</a:t>
            </a:r>
            <a:endParaRPr lang="en-US" altLang="zh-CN" dirty="0"/>
          </a:p>
          <a:p>
            <a:pPr algn="l"/>
            <a:r>
              <a:rPr lang="en-US" altLang="zh-CN" dirty="0"/>
              <a:t>	</a:t>
            </a:r>
            <a:r>
              <a:rPr lang="zh-CN" altLang="en-US" dirty="0"/>
              <a:t>如有问题可查阅</a:t>
            </a:r>
            <a:r>
              <a:rPr lang="en-US" altLang="zh-CN" b="1" dirty="0"/>
              <a:t>《</a:t>
            </a:r>
            <a:r>
              <a:rPr lang="zh-CN" altLang="en-US" b="1" i="0" dirty="0">
                <a:effectLst/>
                <a:latin typeface="Times New Roman" panose="02020603050405020304" pitchFamily="18" charset="0"/>
                <a:hlinkClick r:id="rId4"/>
              </a:rPr>
              <a:t>学生社团工作手册</a:t>
            </a:r>
            <a:r>
              <a:rPr lang="en-US" altLang="zh-CN" b="1" dirty="0"/>
              <a:t>》</a:t>
            </a:r>
            <a:r>
              <a:rPr lang="zh-CN" altLang="en-US" dirty="0"/>
              <a:t>或咨询财务组同学和管指委老师。</a:t>
            </a:r>
            <a:r>
              <a:rPr lang="zh-CN" altLang="en-US" dirty="0">
                <a:solidFill>
                  <a:srgbClr val="FF0000"/>
                </a:solidFill>
              </a:rPr>
              <a:t>对于不确定能否报销的物品，请咨询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6360 2362</a:t>
            </a:r>
            <a:r>
              <a:rPr lang="zh-CN" altLang="en-US" dirty="0">
                <a:solidFill>
                  <a:srgbClr val="FF0000"/>
                </a:solidFill>
              </a:rPr>
              <a:t>（财务处电话）</a:t>
            </a:r>
            <a:endParaRPr lang="en-US" altLang="zh-CN" b="1" dirty="0">
              <a:solidFill>
                <a:srgbClr val="FF0000"/>
              </a:solidFill>
            </a:endParaRPr>
          </a:p>
          <a:p>
            <a:pPr algn="l"/>
            <a:endParaRPr lang="en-US" altLang="zh-CN" dirty="0"/>
          </a:p>
          <a:p>
            <a:pPr algn="l"/>
            <a:endParaRPr lang="zh-CN" altLang="en-US" sz="2200" dirty="0"/>
          </a:p>
        </p:txBody>
      </p:sp>
    </p:spTree>
    <p:custDataLst>
      <p:tags r:id="rId5"/>
    </p:custData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590800" y="995466"/>
            <a:ext cx="6711950" cy="9220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易错点</a:t>
            </a:r>
            <a:r>
              <a:rPr lang="en-US" altLang="zh-CN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常见挂单原因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1510130" y="2191610"/>
            <a:ext cx="9375584" cy="4481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1510030" y="2076450"/>
            <a:ext cx="9211310" cy="43624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、发票抬头错误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例如：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zh-CN" altLang="en-US" sz="20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、缺少</a:t>
            </a:r>
            <a:r>
              <a:rPr lang="zh-CN" altLang="en-US" sz="2000" dirty="0">
                <a:solidFill>
                  <a:schemeClr val="tx1"/>
                </a:solidFill>
              </a:rPr>
              <a:t>购物清单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3</a:t>
            </a:r>
            <a:r>
              <a:rPr lang="zh-CN" altLang="en-US" sz="2000" dirty="0">
                <a:solidFill>
                  <a:schemeClr val="tx1"/>
                </a:solidFill>
              </a:rPr>
              <a:t>、未标注物品</a:t>
            </a:r>
            <a:r>
              <a:rPr lang="zh-CN" altLang="en-US" sz="2000" dirty="0">
                <a:solidFill>
                  <a:schemeClr val="tx1"/>
                </a:solidFill>
              </a:rPr>
              <a:t>用途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4</a:t>
            </a:r>
            <a:r>
              <a:rPr lang="zh-CN" altLang="en-US" sz="2000" dirty="0">
                <a:solidFill>
                  <a:schemeClr val="tx1"/>
                </a:solidFill>
              </a:rPr>
              <a:t>、未登记固定资产（超</a:t>
            </a:r>
            <a:r>
              <a:rPr lang="en-US" altLang="zh-CN" sz="2000" dirty="0">
                <a:solidFill>
                  <a:schemeClr val="tx1"/>
                </a:solidFill>
              </a:rPr>
              <a:t>1000</a:t>
            </a:r>
            <a:r>
              <a:rPr lang="zh-CN" altLang="en-US" sz="2000" dirty="0">
                <a:solidFill>
                  <a:schemeClr val="tx1"/>
                </a:solidFill>
              </a:rPr>
              <a:t>元的物品需登记）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5</a:t>
            </a:r>
            <a:r>
              <a:rPr lang="zh-CN" altLang="en-US" sz="2000" dirty="0">
                <a:solidFill>
                  <a:schemeClr val="tx1"/>
                </a:solidFill>
              </a:rPr>
              <a:t>、同一商家超</a:t>
            </a:r>
            <a:r>
              <a:rPr lang="en-US" altLang="zh-CN" sz="2000" dirty="0">
                <a:solidFill>
                  <a:schemeClr val="tx1"/>
                </a:solidFill>
              </a:rPr>
              <a:t>2000</a:t>
            </a:r>
            <a:r>
              <a:rPr lang="zh-CN" altLang="en-US" sz="2000" dirty="0">
                <a:solidFill>
                  <a:schemeClr val="tx1"/>
                </a:solidFill>
              </a:rPr>
              <a:t>元未对公转账（需说明</a:t>
            </a:r>
            <a:r>
              <a:rPr lang="zh-CN" altLang="en-US" sz="2000" dirty="0">
                <a:solidFill>
                  <a:schemeClr val="tx1"/>
                </a:solidFill>
              </a:rPr>
              <a:t>情况）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6</a:t>
            </a:r>
            <a:r>
              <a:rPr lang="zh-CN" altLang="en-US" sz="2000" dirty="0">
                <a:solidFill>
                  <a:srgbClr val="FF0000"/>
                </a:solidFill>
              </a:rPr>
              <a:t>、奖品</a:t>
            </a:r>
            <a:r>
              <a:rPr lang="en-US" altLang="zh-CN" sz="2000" dirty="0">
                <a:solidFill>
                  <a:srgbClr val="FF0000"/>
                </a:solidFill>
              </a:rPr>
              <a:t>/</a:t>
            </a:r>
            <a:r>
              <a:rPr lang="zh-CN" altLang="en-US" sz="2000" dirty="0">
                <a:solidFill>
                  <a:srgbClr val="FF0000"/>
                </a:solidFill>
              </a:rPr>
              <a:t>服装签领表：填写不完整、未提交原件等</a:t>
            </a:r>
            <a:endParaRPr lang="zh-CN" altLang="en-US" sz="2000" dirty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</a:pPr>
            <a:endParaRPr lang="zh-CN" altLang="en-US" sz="2000" dirty="0">
              <a:solidFill>
                <a:srgbClr val="FF0000"/>
              </a:solidFill>
            </a:endParaRPr>
          </a:p>
        </p:txBody>
      </p:sp>
      <p:grpSp>
        <p:nvGrpSpPr>
          <p:cNvPr id="14" name="组合 14"/>
          <p:cNvGrpSpPr/>
          <p:nvPr/>
        </p:nvGrpSpPr>
        <p:grpSpPr>
          <a:xfrm>
            <a:off x="8298180" y="2347595"/>
            <a:ext cx="3083560" cy="1904365"/>
            <a:chOff x="8548" y="4042"/>
            <a:chExt cx="4384" cy="2804"/>
          </a:xfrm>
        </p:grpSpPr>
        <p:pic>
          <p:nvPicPr>
            <p:cNvPr id="8" name="图片 8" descr="IMG_25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48" y="4042"/>
              <a:ext cx="4384" cy="280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" name="矩形 10"/>
            <p:cNvSpPr/>
            <p:nvPr/>
          </p:nvSpPr>
          <p:spPr>
            <a:xfrm>
              <a:off x="9072" y="5583"/>
              <a:ext cx="1451" cy="119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</p:grpSp>
      <p:pic>
        <p:nvPicPr>
          <p:cNvPr id="6" name="图片 6"/>
          <p:cNvPicPr>
            <a:picLocks noChangeAspect="1"/>
          </p:cNvPicPr>
          <p:nvPr/>
        </p:nvPicPr>
        <p:blipFill>
          <a:blip r:embed="rId3"/>
          <a:srcRect t="42318"/>
          <a:stretch>
            <a:fillRect/>
          </a:stretch>
        </p:blipFill>
        <p:spPr>
          <a:xfrm>
            <a:off x="2443798" y="2700973"/>
            <a:ext cx="2580640" cy="692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953" y="2701608"/>
            <a:ext cx="26765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椭圆 13"/>
          <p:cNvSpPr/>
          <p:nvPr/>
        </p:nvSpPr>
        <p:spPr>
          <a:xfrm>
            <a:off x="3412490" y="2857500"/>
            <a:ext cx="471170" cy="166370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" name="椭圆 13"/>
          <p:cNvSpPr/>
          <p:nvPr/>
        </p:nvSpPr>
        <p:spPr>
          <a:xfrm>
            <a:off x="6633210" y="3124835"/>
            <a:ext cx="603885" cy="192405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" name="椭圆 13"/>
          <p:cNvSpPr/>
          <p:nvPr/>
        </p:nvSpPr>
        <p:spPr>
          <a:xfrm>
            <a:off x="10613390" y="3724910"/>
            <a:ext cx="603885" cy="192405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  <p:custDataLst>
      <p:tags r:id="rId5"/>
    </p:custData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841625" y="1017056"/>
            <a:ext cx="6711950" cy="175323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易错点</a:t>
            </a:r>
            <a:r>
              <a:rPr lang="en-US" altLang="zh-CN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常见挂单原因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1510130" y="2191610"/>
            <a:ext cx="9375584" cy="4481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1510030" y="1246505"/>
            <a:ext cx="9211310" cy="5857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endParaRPr lang="en-US" altLang="zh-CN" sz="20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sym typeface="+mn-ea"/>
              </a:rPr>
              <a:t>7</a:t>
            </a: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、奖品签领和购买数量不一致（需说明情况）</a:t>
            </a:r>
            <a:endParaRPr lang="zh-CN" altLang="en-US" sz="20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实际情况</a:t>
            </a:r>
            <a:r>
              <a:rPr lang="zh-CN" altLang="en-US" sz="2000" dirty="0">
                <a:solidFill>
                  <a:schemeClr val="tx1"/>
                </a:solidFill>
              </a:rPr>
              <a:t>中此项较复杂，也是挂单高发区，</a:t>
            </a:r>
            <a:r>
              <a:rPr lang="zh-CN" altLang="en-US" sz="2000" dirty="0">
                <a:solidFill>
                  <a:schemeClr val="tx1"/>
                </a:solidFill>
              </a:rPr>
              <a:t>因此建议按以下形式整理：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zh-CN" altLang="en-US" sz="20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zh-CN" altLang="en-US" sz="20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zh-CN" altLang="en-US" sz="20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8</a:t>
            </a:r>
            <a:r>
              <a:rPr lang="zh-CN" altLang="en-US" sz="2000" dirty="0">
                <a:solidFill>
                  <a:schemeClr val="tx1"/>
                </a:solidFill>
              </a:rPr>
              <a:t>、说明或备注缺少手签姓名</a:t>
            </a:r>
            <a:r>
              <a:rPr lang="zh-CN" altLang="en-US" sz="2000" dirty="0">
                <a:solidFill>
                  <a:schemeClr val="tx1"/>
                </a:solidFill>
              </a:rPr>
              <a:t>学号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严禁在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没有进行审批的情况下私自购买</a:t>
            </a:r>
            <a:endParaRPr lang="zh-CN" altLang="en-US" b="1" dirty="0">
              <a:solidFill>
                <a:srgbClr val="FF0000"/>
              </a:solidFill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注意报销时限，及时处理挂单！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</a:pPr>
            <a:endParaRPr lang="zh-CN" altLang="en-US" sz="2300" dirty="0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655" y="3166745"/>
            <a:ext cx="6012180" cy="12268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1245870" y="2153920"/>
            <a:ext cx="10086340" cy="2698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zh-CN" altLang="en-US" dirty="0">
                <a:solidFill>
                  <a:schemeClr val="tx1"/>
                </a:solidFill>
                <a:latin typeface="+mn-ea"/>
                <a:sym typeface="+mn-ea"/>
              </a:rPr>
              <a:t>报销金额一次超过预算</a:t>
            </a:r>
            <a:r>
              <a:rPr lang="en-US" altLang="zh-CN" dirty="0">
                <a:solidFill>
                  <a:schemeClr val="tx1"/>
                </a:solidFill>
                <a:latin typeface="+mn-ea"/>
                <a:sym typeface="+mn-ea"/>
              </a:rPr>
              <a:t> 10%</a:t>
            </a:r>
            <a:r>
              <a:rPr lang="zh-CN" altLang="en-US" dirty="0">
                <a:solidFill>
                  <a:schemeClr val="tx1"/>
                </a:solidFill>
                <a:latin typeface="+mn-ea"/>
                <a:sym typeface="+mn-ea"/>
              </a:rPr>
              <a:t>或超过预算</a:t>
            </a:r>
            <a:r>
              <a:rPr lang="en-US" altLang="zh-CN" dirty="0">
                <a:solidFill>
                  <a:schemeClr val="tx1"/>
                </a:solidFill>
                <a:latin typeface="+mn-ea"/>
                <a:sym typeface="+mn-ea"/>
              </a:rPr>
              <a:t> 500 </a:t>
            </a:r>
            <a:r>
              <a:rPr lang="zh-CN" altLang="en-US" dirty="0">
                <a:solidFill>
                  <a:schemeClr val="tx1"/>
                </a:solidFill>
                <a:latin typeface="+mn-ea"/>
                <a:sym typeface="+mn-ea"/>
              </a:rPr>
              <a:t>元会在年审的财务规范里扣</a:t>
            </a:r>
            <a:r>
              <a:rPr lang="en-US" altLang="zh-CN" dirty="0">
                <a:solidFill>
                  <a:schemeClr val="tx1"/>
                </a:solidFill>
                <a:latin typeface="+mn-ea"/>
                <a:sym typeface="+mn-ea"/>
              </a:rPr>
              <a:t> 1 </a:t>
            </a:r>
            <a:r>
              <a:rPr lang="zh-CN" altLang="en-US" dirty="0">
                <a:solidFill>
                  <a:schemeClr val="tx1"/>
                </a:solidFill>
                <a:latin typeface="+mn-ea"/>
                <a:sym typeface="+mn-ea"/>
              </a:rPr>
              <a:t>分。</a:t>
            </a:r>
            <a:endParaRPr lang="zh-CN" altLang="en-US" dirty="0"/>
          </a:p>
          <a:p>
            <a:pPr algn="l"/>
            <a:r>
              <a:rPr lang="en-US" altLang="zh-CN" dirty="0"/>
              <a:t>	</a:t>
            </a:r>
            <a:r>
              <a:rPr lang="zh-CN" altLang="en-US" dirty="0"/>
              <a:t>提交报销材料一次逾期（指超过活动结束后的四个工作周）</a:t>
            </a:r>
            <a:r>
              <a:rPr lang="zh-CN" altLang="en-US" dirty="0">
                <a:latin typeface="+mn-ea"/>
                <a:sym typeface="+mn-ea"/>
              </a:rPr>
              <a:t>在年审的财务规范里扣</a:t>
            </a:r>
            <a:r>
              <a:rPr lang="en-US" altLang="zh-CN" dirty="0">
                <a:latin typeface="+mn-ea"/>
                <a:sym typeface="+mn-ea"/>
              </a:rPr>
              <a:t> 1 </a:t>
            </a:r>
            <a:r>
              <a:rPr lang="zh-CN" altLang="en-US" dirty="0">
                <a:latin typeface="+mn-ea"/>
                <a:sym typeface="+mn-ea"/>
              </a:rPr>
              <a:t>分。</a:t>
            </a:r>
            <a:endParaRPr lang="zh-CN" altLang="en-US" dirty="0"/>
          </a:p>
          <a:p>
            <a:pPr algn="l"/>
            <a:r>
              <a:rPr lang="en-US" altLang="zh-CN" dirty="0"/>
              <a:t>	</a:t>
            </a:r>
            <a:r>
              <a:rPr lang="zh-CN" altLang="en-US" dirty="0"/>
              <a:t>处理挂单不及时（指挂单超过</a:t>
            </a:r>
            <a:r>
              <a:rPr lang="en-US" altLang="zh-CN" dirty="0"/>
              <a:t>3</a:t>
            </a:r>
            <a:r>
              <a:rPr lang="zh-CN" altLang="en-US" dirty="0"/>
              <a:t>个月不处理导致被财务处退单）以及提交的报销材料明显不符合要求的会被记入负面清单，在年审当中扣分。</a:t>
            </a:r>
            <a:endParaRPr lang="zh-CN" altLang="en-US" dirty="0"/>
          </a:p>
          <a:p>
            <a:pPr marL="457200" lvl="1" indent="457200" algn="l"/>
            <a:endParaRPr lang="zh-CN" altLang="en-US" sz="2200" dirty="0">
              <a:solidFill>
                <a:schemeClr val="tx1"/>
              </a:solidFill>
            </a:endParaRPr>
          </a:p>
        </p:txBody>
      </p:sp>
      <p:pic>
        <p:nvPicPr>
          <p:cNvPr id="307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7" y="398999"/>
            <a:ext cx="40163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40025" y="1218351"/>
            <a:ext cx="6711950" cy="9220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spc="-15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年审相关事项</a:t>
            </a:r>
            <a:endParaRPr lang="zh-CN" altLang="en-US" sz="3600" b="1" spc="-15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76400" y="5581650"/>
            <a:ext cx="8489950" cy="717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algn="ctr">
              <a:lnSpc>
                <a:spcPct val="150000"/>
              </a:lnSpc>
            </a:pPr>
            <a:r>
              <a:rPr lang="zh-CN" altLang="en-US" sz="1945" b="1" dirty="0">
                <a:solidFill>
                  <a:srgbClr val="0070C0"/>
                </a:solidFill>
                <a:latin typeface="+mn-ea"/>
              </a:rPr>
              <a:t>注：</a:t>
            </a:r>
            <a:r>
              <a:rPr lang="zh-CN" altLang="en-US" sz="1945" dirty="0">
                <a:solidFill>
                  <a:srgbClr val="0070C0"/>
                </a:solidFill>
                <a:sym typeface="+mn-ea"/>
              </a:rPr>
              <a:t>更多相关细则请参考社团工作手册。</a:t>
            </a:r>
            <a:endParaRPr lang="zh-CN" altLang="en-US" sz="1945" b="1" dirty="0">
              <a:solidFill>
                <a:srgbClr val="0070C0"/>
              </a:solidFill>
              <a:latin typeface="+mn-ea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3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4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5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6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7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8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9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10.xml><?xml version="1.0" encoding="utf-8"?>
<p:tagLst xmlns:p="http://schemas.openxmlformats.org/presentationml/2006/main">
  <p:tag name="TABLE_ENDDRAG_ORIGIN_RECT" val="225*214"/>
  <p:tag name="TABLE_ENDDRAG_RECT" val="640*31*225*214"/>
</p:tagLst>
</file>

<file path=ppt/tags/tag11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1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13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14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15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16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17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18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19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20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21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2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23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24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25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26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27.xml><?xml version="1.0" encoding="utf-8"?>
<p:tagLst xmlns:p="http://schemas.openxmlformats.org/presentationml/2006/main">
  <p:tag name="commondata" val="eyJoZGlkIjoiNDk4ZjI5Y2I2Y2RjYWEzNTdhOGY5NjIyODBhZmYzZW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rmAutofit fontScale="92500" lnSpcReduction="10000"/>
      </a:bodyPr>
      <a:lstStyle>
        <a:defPPr algn="l">
          <a:lnSpc>
            <a:spcPct val="150000"/>
          </a:lnSpc>
          <a:defRPr sz="2800" b="1" dirty="0"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3861</Words>
  <Application>WPS 演示</Application>
  <PresentationFormat>宽屏</PresentationFormat>
  <Paragraphs>328</Paragraphs>
  <Slides>25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Arial Unicode MS</vt:lpstr>
      <vt:lpstr>Calibri Light</vt:lpstr>
      <vt:lpstr>Calibri</vt:lpstr>
      <vt:lpstr>Calibri</vt:lpstr>
      <vt:lpstr>黑体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财务培训</dc:title>
  <dc:creator>Windows 用户</dc:creator>
  <cp:lastModifiedBy>Z.</cp:lastModifiedBy>
  <cp:revision>157</cp:revision>
  <dcterms:created xsi:type="dcterms:W3CDTF">2021-05-25T12:27:00Z</dcterms:created>
  <dcterms:modified xsi:type="dcterms:W3CDTF">2026-03-04T08:42:25Z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23EA1548114D4D7885A4CCC2F15C4F91_12</vt:lpwstr>
  </property>
  <property fmtid="{D5CDD505-2E9C-101B-9397-08002B2CF9AE}" pid="3" name="KSOProductBuildVer">
    <vt:lpwstr>2052-12.1.0.25225</vt:lpwstr>
  </property>
</Properties>
</file>